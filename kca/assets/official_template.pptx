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8" r:id="rId2"/>
    <p:sldId id="257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8" d="100"/>
          <a:sy n="18" d="100"/>
        </p:scale>
        <p:origin x="3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7BBFD-5E7A-420E-906F-224713A988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E0AA4-30AB-474F-B4B1-9C48CDB48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80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1pPr>
    <a:lvl2pPr marL="459440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2pPr>
    <a:lvl3pPr marL="918881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3pPr>
    <a:lvl4pPr marL="1378321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4pPr>
    <a:lvl5pPr marL="1837761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5pPr>
    <a:lvl6pPr marL="2297201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6pPr>
    <a:lvl7pPr marL="2756642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7pPr>
    <a:lvl8pPr marL="3216082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8pPr>
    <a:lvl9pPr marL="3675522" algn="l" defTabSz="918881" rtl="0" eaLnBrk="1" latinLnBrk="1" hangingPunct="1">
      <a:defRPr sz="12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918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27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04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04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03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92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020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83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45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85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47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D02C4-2C0E-498F-9BDF-E3141BBB66E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8137-A1F2-412F-ACDF-12424B79F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27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ca11402@counselors.or.kr" TargetMode="External"/><Relationship Id="rId2" Type="http://schemas.openxmlformats.org/officeDocument/2006/relationships/hyperlink" Target="https://forms.gle/ggtkkF2ASiD2vRpP7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2342D0-F1C0-2618-9847-667C9543A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902" y="591671"/>
            <a:ext cx="26112371" cy="277954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ko-KR" sz="7200" b="1" dirty="0">
                <a:latin typeface="+mj-ea"/>
                <a:ea typeface="+mj-ea"/>
              </a:rPr>
              <a:t>1. </a:t>
            </a:r>
            <a:r>
              <a:rPr lang="ko-KR" altLang="en-US" sz="7200" b="1" dirty="0">
                <a:latin typeface="+mj-ea"/>
                <a:ea typeface="+mj-ea"/>
              </a:rPr>
              <a:t>포스터논문 제출 안내</a:t>
            </a:r>
            <a:endParaRPr lang="en-US" altLang="ko-KR" sz="7200" b="1" dirty="0"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1) 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제출기한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: 6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월 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17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일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수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낮 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12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시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2)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제출내용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붙임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1.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포스터발표 서약서 및 동의서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붙임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2. 2026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포스터논문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3)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붙임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2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포스터논문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ppt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양식에 </a:t>
            </a:r>
            <a:r>
              <a:rPr lang="ko-KR" altLang="en-US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포스터논문을 </a:t>
            </a:r>
            <a:r>
              <a:rPr lang="en-US" altLang="ko-KR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</a:t>
            </a:r>
            <a:r>
              <a:rPr lang="ko-KR" altLang="en-US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매로 작성하여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학회 홈페이지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연차학술대회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논문발표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신청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 &gt;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최종자료 제출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에서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PDF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파일 형태로 업로드 해주십시오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4)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포스터발표 최종 합격자는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온라인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/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오프라인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오전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오후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발표에 관계없이 모두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PDF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파일 형태의 최종 포스터논문을 제출해야 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 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5)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신청 시 작성한 포스터논문의 제목과 제출하시는 포스터의 제목은 동일해야 하며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제출 완료 이후에는 포스터 파일 변경이 불가합니다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</a:t>
            </a: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5000" kern="0" spc="-1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marR="0" lvl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2. </a:t>
            </a:r>
            <a:r>
              <a:rPr lang="ko-KR" altLang="en-US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포스터논문 발표 안내</a:t>
            </a:r>
            <a:r>
              <a:rPr lang="en-US" altLang="ko-KR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(2026.07.04.(</a:t>
            </a:r>
            <a:r>
              <a:rPr lang="ko-KR" altLang="en-US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토</a:t>
            </a:r>
            <a:r>
              <a:rPr lang="en-US" altLang="ko-KR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당일</a:t>
            </a:r>
            <a:r>
              <a:rPr lang="en-US" altLang="ko-KR" sz="6600" b="1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</a:t>
            </a:r>
            <a:endParaRPr lang="ko-KR" altLang="en-US" sz="66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발표자는 포스터발표장인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'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성신미술관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'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에 직접 포스터를 출력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부착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철거하셔야 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lvl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latin typeface="+mj-ea"/>
                <a:ea typeface="+mj-ea"/>
              </a:rPr>
              <a:t>-</a:t>
            </a:r>
            <a:r>
              <a:rPr lang="ko-KR" altLang="en-US" sz="5000" kern="0" spc="-1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제작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제출한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PDF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파일을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A0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사이즈의 종이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현수막 재질 등으로 직접 출력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종이로  </a:t>
            </a:r>
            <a:endParaRPr lang="en-US" altLang="ko-KR" sz="5000" kern="0" spc="-1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lvl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latin typeface="+mj-ea"/>
                <a:ea typeface="+mj-ea"/>
              </a:rPr>
              <a:t> 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제작하시는 경우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부착도구로 인한 손상이 있을 수 있습니다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.)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부착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: 7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월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4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일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토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 08:30~10:00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성신여자대학교 운정그린캠퍼스 성신미술관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38100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부착도구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스카치테이프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겔테이프 등 출력물 재질에 따라 개인 지참하여야 하며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스테이플러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압정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핀 등을 통한 부착은 불가능합니다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.)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발표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오전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(10:00~12:00)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또는 오후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(14:00~16:00)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에 본인의 포스터논문 앞에서 발표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  (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6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월 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5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일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금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) 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낮 </a:t>
            </a:r>
            <a:r>
              <a:rPr lang="en-US" altLang="ko-KR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12</a:t>
            </a:r>
            <a:r>
              <a:rPr lang="ko-KR" altLang="en-US" sz="5000" b="1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시까지</a:t>
            </a:r>
            <a:r>
              <a:rPr lang="ko-KR" altLang="en-US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ko-KR" sz="5000" u="sng" kern="0" spc="-10" dirty="0">
                <a:solidFill>
                  <a:srgbClr val="FF0000"/>
                </a:solidFill>
                <a:effectLst/>
                <a:uFill>
                  <a:solidFill>
                    <a:srgbClr val="0000FF"/>
                  </a:solidFill>
                </a:uFill>
                <a:latin typeface="+mj-ea"/>
                <a:ea typeface="+mj-ea"/>
                <a:hlinkClick r:id="rId2"/>
              </a:rPr>
              <a:t>https://forms.gle/ggtkkF2ASiD2vRpP7</a:t>
            </a:r>
            <a:r>
              <a:rPr lang="ko-KR" altLang="en-US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에서 발표시간대 선택</a:t>
            </a:r>
            <a:endParaRPr lang="en-US" altLang="ko-KR" sz="5000" kern="0" spc="-10" dirty="0">
              <a:solidFill>
                <a:srgbClr val="FF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FF0000"/>
                </a:solidFill>
                <a:latin typeface="+mj-ea"/>
                <a:ea typeface="+mj-ea"/>
              </a:rPr>
              <a:t>  </a:t>
            </a:r>
            <a:r>
              <a:rPr lang="ko-KR" altLang="en-US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필수</a:t>
            </a:r>
            <a:r>
              <a:rPr lang="en-US" altLang="ko-KR" sz="5000" kern="0" spc="-10" dirty="0">
                <a:solidFill>
                  <a:srgbClr val="FF0000"/>
                </a:solidFill>
                <a:effectLst/>
                <a:latin typeface="+mj-ea"/>
                <a:ea typeface="+mj-ea"/>
              </a:rPr>
              <a:t>,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기간 내 입력하지 않으시는 경우 학술위원회에서 임의 배정 예정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철거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: 7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월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4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일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토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 16:00~17:00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개인적으로 철거하여야 하며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이후 일괄 철거 및 폐기 예정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2)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온라인 게시 안내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- 2026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연차학술대회는 오프라인과 온라인 모두에서 진행되며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포스터논문 발표자 중 온라인 게시를 동의한 경우에 한해 온라인에서도 열람이 가능하도록 게시됩니다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 </a:t>
            </a:r>
            <a:r>
              <a:rPr lang="ko-KR" altLang="en-US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연차학술대회 기간</a:t>
            </a:r>
            <a:r>
              <a:rPr lang="en-US" altLang="ko-KR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(7</a:t>
            </a:r>
            <a:r>
              <a:rPr lang="ko-KR" altLang="en-US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월 </a:t>
            </a:r>
            <a:r>
              <a:rPr lang="en-US" altLang="ko-KR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4</a:t>
            </a:r>
            <a:r>
              <a:rPr lang="ko-KR" altLang="en-US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일 </a:t>
            </a:r>
            <a:r>
              <a:rPr lang="en-US" altLang="ko-KR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10:00~16:00) </a:t>
            </a:r>
            <a:r>
              <a:rPr lang="ko-KR" altLang="en-US" sz="5000" kern="0" spc="-4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중 온라인 상에 게시되시는 것에 동의하시는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경우 최종자료 제출시 ‘파일 업로드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논문접수 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동의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'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를 선택하여 주십시오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 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온라인 게시를 희망하지 않는 경우 미동의 선택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r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* 게시 자료는 다운로드가 불가능합니다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r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* 학회원은 온라인 뷰어 형태로만 열람 가능합니다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.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r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문의 학술위원회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ko-KR" sz="5000" u="sng" kern="0" spc="-10" dirty="0">
                <a:solidFill>
                  <a:srgbClr val="0000FF"/>
                </a:solidFill>
                <a:effectLst/>
                <a:uFill>
                  <a:solidFill>
                    <a:srgbClr val="0000FF"/>
                  </a:solidFill>
                </a:uFill>
                <a:latin typeface="+mj-ea"/>
                <a:ea typeface="+mj-ea"/>
                <a:hlinkClick r:id="rId3"/>
              </a:rPr>
              <a:t>kca11402@counselors.or.kr</a:t>
            </a:r>
            <a:r>
              <a:rPr lang="en-US" altLang="ko-KR" sz="5000" kern="0" spc="-10" dirty="0">
                <a:solidFill>
                  <a:srgbClr val="000000"/>
                </a:solidFill>
                <a:effectLst/>
                <a:latin typeface="+mj-ea"/>
                <a:ea typeface="+mj-ea"/>
              </a:rPr>
              <a:t>)</a:t>
            </a: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0" marR="0" indent="0" algn="just" fontAlgn="base" latinLnBrk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5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algn="just"/>
            <a:endParaRPr lang="en-US" altLang="ko-KR" sz="5000" dirty="0">
              <a:latin typeface="+mj-ea"/>
              <a:ea typeface="+mj-ea"/>
            </a:endParaRPr>
          </a:p>
          <a:p>
            <a:pPr marL="0" indent="0" algn="just">
              <a:buNone/>
            </a:pPr>
            <a:endParaRPr lang="en-US" altLang="ko-KR" sz="5000" dirty="0">
              <a:latin typeface="+mj-ea"/>
              <a:ea typeface="+mj-ea"/>
            </a:endParaRPr>
          </a:p>
          <a:p>
            <a:pPr algn="just"/>
            <a:endParaRPr lang="ko-KR" altLang="en-US" sz="5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56297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FEFCCE4-57E0-496B-AE8E-FE65B5A22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459" y="-20955"/>
            <a:ext cx="30379672" cy="4282471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4CBC4DB-A29D-4C83-8C23-86283907ABB5}"/>
              </a:ext>
            </a:extLst>
          </p:cNvPr>
          <p:cNvSpPr/>
          <p:nvPr/>
        </p:nvSpPr>
        <p:spPr>
          <a:xfrm>
            <a:off x="935990" y="1746885"/>
            <a:ext cx="28159393" cy="3596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661AB-57EB-4CD4-A757-1D96FB752018}"/>
              </a:ext>
            </a:extLst>
          </p:cNvPr>
          <p:cNvSpPr/>
          <p:nvPr/>
        </p:nvSpPr>
        <p:spPr>
          <a:xfrm>
            <a:off x="935990" y="5964873"/>
            <a:ext cx="28159393" cy="35092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84094-129A-48BE-BDAE-AF99345ED0FD}"/>
              </a:ext>
            </a:extLst>
          </p:cNvPr>
          <p:cNvSpPr txBox="1"/>
          <p:nvPr/>
        </p:nvSpPr>
        <p:spPr>
          <a:xfrm>
            <a:off x="10443973" y="2190792"/>
            <a:ext cx="93872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800" dirty="0" err="1"/>
              <a:t>논문명</a:t>
            </a:r>
            <a:r>
              <a:rPr lang="ko-KR" altLang="en-US" sz="13800" dirty="0"/>
              <a:t> 기재</a:t>
            </a: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442997A3-235F-4A07-8221-599FBE447DC4}"/>
              </a:ext>
            </a:extLst>
          </p:cNvPr>
          <p:cNvSpPr txBox="1"/>
          <p:nvPr/>
        </p:nvSpPr>
        <p:spPr>
          <a:xfrm>
            <a:off x="13558658" y="4155267"/>
            <a:ext cx="2914056" cy="1156339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4800" b="1" dirty="0">
                <a:solidFill>
                  <a:srgbClr val="2C2C2C"/>
                </a:solidFill>
                <a:latin typeface="맑은 고딕"/>
                <a:ea typeface="맑은 고딕"/>
              </a:rPr>
              <a:t>이름</a:t>
            </a:r>
            <a:r>
              <a:rPr lang="en-US" altLang="ko-KR" sz="4800" b="1" dirty="0">
                <a:solidFill>
                  <a:srgbClr val="2C2C2C"/>
                </a:solidFill>
                <a:latin typeface="맑은 고딕"/>
                <a:ea typeface="맑은 고딕"/>
              </a:rPr>
              <a:t>(</a:t>
            </a:r>
            <a:r>
              <a:rPr lang="ko-KR" altLang="en-US" sz="4800" b="1" dirty="0">
                <a:solidFill>
                  <a:srgbClr val="2C2C2C"/>
                </a:solidFill>
                <a:latin typeface="맑은 고딕"/>
                <a:ea typeface="맑은 고딕"/>
              </a:rPr>
              <a:t>소속</a:t>
            </a:r>
            <a:r>
              <a:rPr lang="en-US" altLang="ko-KR" sz="4800" b="1" dirty="0">
                <a:solidFill>
                  <a:srgbClr val="2C2C2C"/>
                </a:solidFill>
                <a:latin typeface="맑은 고딕"/>
                <a:ea typeface="맑은 고딕"/>
              </a:rPr>
              <a:t>)</a:t>
            </a:r>
            <a:endParaRPr lang="ko-KR" altLang="en-US" sz="4800" b="1" dirty="0">
              <a:solidFill>
                <a:srgbClr val="2C2C2C"/>
              </a:solidFill>
              <a:latin typeface="맑은 고딕"/>
            </a:endParaRPr>
          </a:p>
        </p:txBody>
      </p:sp>
      <p:pic>
        <p:nvPicPr>
          <p:cNvPr id="35" name="Picture 5">
            <a:extLst>
              <a:ext uri="{FF2B5EF4-FFF2-40B4-BE49-F238E27FC236}">
                <a16:creationId xmlns:a16="http://schemas.microsoft.com/office/drawing/2014/main" id="{4EBD3106-DA7B-4851-8DF1-04940E4499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10604" y="6474062"/>
            <a:ext cx="12780000" cy="1236409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752D7B9D-B162-45CE-AE98-64526CC9DFE3}"/>
              </a:ext>
            </a:extLst>
          </p:cNvPr>
          <p:cNvGrpSpPr/>
          <p:nvPr/>
        </p:nvGrpSpPr>
        <p:grpSpPr>
          <a:xfrm>
            <a:off x="1583047" y="8174598"/>
            <a:ext cx="8398170" cy="698261"/>
            <a:chOff x="1917042" y="6178257"/>
            <a:chExt cx="8398170" cy="698261"/>
          </a:xfrm>
        </p:grpSpPr>
        <p:pic>
          <p:nvPicPr>
            <p:cNvPr id="37" name="Picture 6">
              <a:extLst>
                <a:ext uri="{FF2B5EF4-FFF2-40B4-BE49-F238E27FC236}">
                  <a16:creationId xmlns:a16="http://schemas.microsoft.com/office/drawing/2014/main" id="{38C918FC-963A-4A5F-AFA8-53DE9AE44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rot="5400000">
              <a:off x="1694868" y="6546457"/>
              <a:ext cx="507826" cy="63478"/>
            </a:xfrm>
            <a:prstGeom prst="rect">
              <a:avLst/>
            </a:prstGeom>
          </p:spPr>
        </p:pic>
        <p:sp>
          <p:nvSpPr>
            <p:cNvPr id="38" name="TextBox 7">
              <a:extLst>
                <a:ext uri="{FF2B5EF4-FFF2-40B4-BE49-F238E27FC236}">
                  <a16:creationId xmlns:a16="http://schemas.microsoft.com/office/drawing/2014/main" id="{0FB77D6D-9830-43E1-B27C-C76C9D584BD5}"/>
                </a:ext>
              </a:extLst>
            </p:cNvPr>
            <p:cNvSpPr txBox="1"/>
            <p:nvPr/>
          </p:nvSpPr>
          <p:spPr>
            <a:xfrm>
              <a:off x="2278868" y="6178257"/>
              <a:ext cx="8036344" cy="698261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lvl="0" algn="l">
                <a:lnSpc>
                  <a:spcPct val="116199"/>
                </a:lnSpc>
                <a:defRPr/>
              </a:pPr>
              <a:r>
                <a:rPr lang="en-US" sz="4800" dirty="0">
                  <a:solidFill>
                    <a:srgbClr val="2C2C2C"/>
                  </a:solidFill>
                  <a:latin typeface="맑은 고딕"/>
                  <a:ea typeface="맑은 고딕"/>
                </a:rPr>
                <a:t>1. </a:t>
              </a:r>
              <a:r>
                <a:rPr lang="ko-KR" altLang="en-US" sz="4800" dirty="0">
                  <a:solidFill>
                    <a:srgbClr val="2C2C2C"/>
                  </a:solidFill>
                  <a:latin typeface="맑은 고딕"/>
                </a:rPr>
                <a:t>연구의</a:t>
              </a:r>
              <a:r>
                <a:rPr lang="en-US" sz="4800" dirty="0">
                  <a:solidFill>
                    <a:srgbClr val="2C2C2C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4800" dirty="0">
                  <a:solidFill>
                    <a:srgbClr val="2C2C2C"/>
                  </a:solidFill>
                  <a:latin typeface="맑은 고딕"/>
                </a:rPr>
                <a:t>필요성</a:t>
              </a:r>
            </a:p>
          </p:txBody>
        </p:sp>
      </p:grpSp>
      <p:sp>
        <p:nvSpPr>
          <p:cNvPr id="39" name="TextBox 8">
            <a:extLst>
              <a:ext uri="{FF2B5EF4-FFF2-40B4-BE49-F238E27FC236}">
                <a16:creationId xmlns:a16="http://schemas.microsoft.com/office/drawing/2014/main" id="{F579340C-68BA-4490-9925-9DDC75685F09}"/>
              </a:ext>
            </a:extLst>
          </p:cNvPr>
          <p:cNvSpPr txBox="1"/>
          <p:nvPr/>
        </p:nvSpPr>
        <p:spPr>
          <a:xfrm>
            <a:off x="1684613" y="6660649"/>
            <a:ext cx="2615303" cy="88869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6000" b="1" dirty="0">
                <a:solidFill>
                  <a:srgbClr val="2C2C2C"/>
                </a:solidFill>
                <a:latin typeface="맑은 고딕"/>
                <a:ea typeface="맑은 고딕"/>
              </a:rPr>
              <a:t>I. </a:t>
            </a:r>
            <a:r>
              <a:rPr lang="ko-KR" altLang="en-US" sz="6000" b="1" dirty="0">
                <a:solidFill>
                  <a:srgbClr val="2C2C2C"/>
                </a:solidFill>
                <a:latin typeface="맑은 고딕"/>
              </a:rPr>
              <a:t>서론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6C6B94-19AF-4602-965D-F72CC11560C3}"/>
              </a:ext>
            </a:extLst>
          </p:cNvPr>
          <p:cNvGrpSpPr/>
          <p:nvPr/>
        </p:nvGrpSpPr>
        <p:grpSpPr>
          <a:xfrm>
            <a:off x="1741743" y="17363052"/>
            <a:ext cx="8398170" cy="698261"/>
            <a:chOff x="2075738" y="15366711"/>
            <a:chExt cx="8398170" cy="698261"/>
          </a:xfrm>
        </p:grpSpPr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7722F9BB-FE60-48CF-BEA6-D6D1A8AB81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 rot="5400000">
              <a:off x="1853564" y="15753974"/>
              <a:ext cx="507826" cy="63478"/>
            </a:xfrm>
            <a:prstGeom prst="rect">
              <a:avLst/>
            </a:prstGeom>
          </p:spPr>
        </p:pic>
        <p:sp>
          <p:nvSpPr>
            <p:cNvPr id="42" name="TextBox 10">
              <a:extLst>
                <a:ext uri="{FF2B5EF4-FFF2-40B4-BE49-F238E27FC236}">
                  <a16:creationId xmlns:a16="http://schemas.microsoft.com/office/drawing/2014/main" id="{281CE2BA-DD6C-4157-A713-6911D3EB8FDC}"/>
                </a:ext>
              </a:extLst>
            </p:cNvPr>
            <p:cNvSpPr txBox="1"/>
            <p:nvPr/>
          </p:nvSpPr>
          <p:spPr>
            <a:xfrm>
              <a:off x="2437564" y="15366711"/>
              <a:ext cx="8036344" cy="698261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lvl="0" algn="l">
                <a:lnSpc>
                  <a:spcPct val="116199"/>
                </a:lnSpc>
                <a:defRPr/>
              </a:pPr>
              <a:r>
                <a:rPr lang="en-US" sz="4800" dirty="0">
                  <a:solidFill>
                    <a:srgbClr val="2C2C2C"/>
                  </a:solidFill>
                  <a:latin typeface="맑은 고딕"/>
                  <a:ea typeface="맑은 고딕"/>
                </a:rPr>
                <a:t>2.</a:t>
              </a:r>
              <a:r>
                <a:rPr lang="ko-KR" altLang="en-US" sz="4800" dirty="0">
                  <a:solidFill>
                    <a:srgbClr val="2C2C2C"/>
                  </a:solidFill>
                  <a:latin typeface="맑은 고딕"/>
                </a:rPr>
                <a:t>연구목표</a:t>
              </a:r>
            </a:p>
          </p:txBody>
        </p:sp>
      </p:grpSp>
      <p:pic>
        <p:nvPicPr>
          <p:cNvPr id="43" name="Picture 11">
            <a:extLst>
              <a:ext uri="{FF2B5EF4-FFF2-40B4-BE49-F238E27FC236}">
                <a16:creationId xmlns:a16="http://schemas.microsoft.com/office/drawing/2014/main" id="{24A59E52-731A-414D-995C-2A47D94963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7126" y="22965707"/>
            <a:ext cx="12780000" cy="1231000"/>
          </a:xfrm>
          <a:prstGeom prst="rect">
            <a:avLst/>
          </a:prstGeom>
        </p:spPr>
      </p:pic>
      <p:sp>
        <p:nvSpPr>
          <p:cNvPr id="44" name="TextBox 12">
            <a:extLst>
              <a:ext uri="{FF2B5EF4-FFF2-40B4-BE49-F238E27FC236}">
                <a16:creationId xmlns:a16="http://schemas.microsoft.com/office/drawing/2014/main" id="{88DCE2F0-9201-4F0D-AC61-4FE6AA30E762}"/>
              </a:ext>
            </a:extLst>
          </p:cNvPr>
          <p:cNvSpPr txBox="1"/>
          <p:nvPr/>
        </p:nvSpPr>
        <p:spPr>
          <a:xfrm>
            <a:off x="1722700" y="23152293"/>
            <a:ext cx="6106606" cy="88869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6000" b="1" dirty="0">
                <a:solidFill>
                  <a:srgbClr val="2C2C2C"/>
                </a:solidFill>
                <a:latin typeface="맑은 고딕"/>
                <a:ea typeface="맑은 고딕"/>
              </a:rPr>
              <a:t>II. </a:t>
            </a:r>
            <a:r>
              <a:rPr lang="ko-KR" altLang="en-US" sz="6000" b="1" dirty="0">
                <a:solidFill>
                  <a:srgbClr val="2C2C2C"/>
                </a:solidFill>
                <a:latin typeface="맑은 고딕"/>
              </a:rPr>
              <a:t>이론적</a:t>
            </a:r>
            <a:r>
              <a:rPr lang="en-US" sz="6000" b="1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6000" b="1" dirty="0">
                <a:solidFill>
                  <a:srgbClr val="2C2C2C"/>
                </a:solidFill>
                <a:latin typeface="맑은 고딕"/>
              </a:rPr>
              <a:t>배경</a:t>
            </a:r>
          </a:p>
        </p:txBody>
      </p:sp>
      <p:pic>
        <p:nvPicPr>
          <p:cNvPr id="45" name="Picture 13">
            <a:extLst>
              <a:ext uri="{FF2B5EF4-FFF2-40B4-BE49-F238E27FC236}">
                <a16:creationId xmlns:a16="http://schemas.microsoft.com/office/drawing/2014/main" id="{5C4CBE97-6F6E-42BD-8745-A2D2701B99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064508" y="6474064"/>
            <a:ext cx="12780000" cy="1231000"/>
          </a:xfrm>
          <a:prstGeom prst="rect">
            <a:avLst/>
          </a:prstGeom>
        </p:spPr>
      </p:pic>
      <p:sp>
        <p:nvSpPr>
          <p:cNvPr id="46" name="TextBox 14">
            <a:extLst>
              <a:ext uri="{FF2B5EF4-FFF2-40B4-BE49-F238E27FC236}">
                <a16:creationId xmlns:a16="http://schemas.microsoft.com/office/drawing/2014/main" id="{A795E9C9-78C0-4EBA-BFEA-2AB30BED673B}"/>
              </a:ext>
            </a:extLst>
          </p:cNvPr>
          <p:cNvSpPr txBox="1"/>
          <p:nvPr/>
        </p:nvSpPr>
        <p:spPr>
          <a:xfrm>
            <a:off x="16538518" y="6603499"/>
            <a:ext cx="4976693" cy="88869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6000" b="1" dirty="0">
                <a:solidFill>
                  <a:srgbClr val="2C2C2C"/>
                </a:solidFill>
                <a:latin typeface="맑은 고딕"/>
                <a:ea typeface="맑은 고딕"/>
              </a:rPr>
              <a:t>IV. </a:t>
            </a:r>
            <a:r>
              <a:rPr lang="ko-KR" altLang="en-US" sz="6000" b="1" dirty="0">
                <a:solidFill>
                  <a:srgbClr val="2C2C2C"/>
                </a:solidFill>
                <a:latin typeface="맑은 고딕"/>
              </a:rPr>
              <a:t>연구결과</a:t>
            </a:r>
          </a:p>
        </p:txBody>
      </p:sp>
      <p:pic>
        <p:nvPicPr>
          <p:cNvPr id="47" name="Picture 15">
            <a:extLst>
              <a:ext uri="{FF2B5EF4-FFF2-40B4-BE49-F238E27FC236}">
                <a16:creationId xmlns:a16="http://schemas.microsoft.com/office/drawing/2014/main" id="{8E5DF4B8-0FFB-4E3B-B787-AF2F566DA6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8353" y="31992309"/>
            <a:ext cx="12780000" cy="1242243"/>
          </a:xfrm>
          <a:prstGeom prst="rect">
            <a:avLst/>
          </a:prstGeom>
        </p:spPr>
      </p:pic>
      <p:sp>
        <p:nvSpPr>
          <p:cNvPr id="48" name="TextBox 16">
            <a:extLst>
              <a:ext uri="{FF2B5EF4-FFF2-40B4-BE49-F238E27FC236}">
                <a16:creationId xmlns:a16="http://schemas.microsoft.com/office/drawing/2014/main" id="{5519B9A3-E5CC-454A-9867-103D9F3EAEA4}"/>
              </a:ext>
            </a:extLst>
          </p:cNvPr>
          <p:cNvSpPr txBox="1"/>
          <p:nvPr/>
        </p:nvSpPr>
        <p:spPr>
          <a:xfrm>
            <a:off x="1786178" y="32121747"/>
            <a:ext cx="7198431" cy="88869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6000" b="1" dirty="0">
                <a:solidFill>
                  <a:srgbClr val="2C2C2C"/>
                </a:solidFill>
                <a:latin typeface="맑은 고딕"/>
                <a:ea typeface="맑은 고딕"/>
              </a:rPr>
              <a:t>III. </a:t>
            </a:r>
            <a:r>
              <a:rPr lang="ko-KR" altLang="en-US" sz="6000" b="1" dirty="0">
                <a:solidFill>
                  <a:srgbClr val="2C2C2C"/>
                </a:solidFill>
                <a:latin typeface="맑은 고딕"/>
              </a:rPr>
              <a:t>연구방법</a:t>
            </a:r>
          </a:p>
        </p:txBody>
      </p:sp>
      <p:pic>
        <p:nvPicPr>
          <p:cNvPr id="49" name="Picture 17">
            <a:extLst>
              <a:ext uri="{FF2B5EF4-FFF2-40B4-BE49-F238E27FC236}">
                <a16:creationId xmlns:a16="http://schemas.microsoft.com/office/drawing/2014/main" id="{B059C3F1-899B-44A4-AFD6-E3011CC085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064508" y="31992309"/>
            <a:ext cx="12780000" cy="1225273"/>
          </a:xfrm>
          <a:prstGeom prst="rect">
            <a:avLst/>
          </a:prstGeom>
        </p:spPr>
      </p:pic>
      <p:sp>
        <p:nvSpPr>
          <p:cNvPr id="50" name="TextBox 18">
            <a:extLst>
              <a:ext uri="{FF2B5EF4-FFF2-40B4-BE49-F238E27FC236}">
                <a16:creationId xmlns:a16="http://schemas.microsoft.com/office/drawing/2014/main" id="{AF041168-4F99-44FA-B8BD-B01E5BD3372C}"/>
              </a:ext>
            </a:extLst>
          </p:cNvPr>
          <p:cNvSpPr txBox="1"/>
          <p:nvPr/>
        </p:nvSpPr>
        <p:spPr>
          <a:xfrm>
            <a:off x="16640083" y="32121747"/>
            <a:ext cx="4976693" cy="88869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6000" b="1">
                <a:solidFill>
                  <a:srgbClr val="2C2C2C"/>
                </a:solidFill>
                <a:latin typeface="맑은 고딕"/>
                <a:ea typeface="맑은 고딕"/>
              </a:rPr>
              <a:t>V </a:t>
            </a:r>
            <a:r>
              <a:rPr lang="ko-KR" altLang="en-US" sz="6000" b="1" dirty="0">
                <a:solidFill>
                  <a:srgbClr val="2C2C2C"/>
                </a:solidFill>
                <a:latin typeface="맑은 고딕"/>
              </a:rPr>
              <a:t>논의</a:t>
            </a:r>
          </a:p>
        </p:txBody>
      </p:sp>
      <p:sp>
        <p:nvSpPr>
          <p:cNvPr id="51" name="TextBox 19">
            <a:extLst>
              <a:ext uri="{FF2B5EF4-FFF2-40B4-BE49-F238E27FC236}">
                <a16:creationId xmlns:a16="http://schemas.microsoft.com/office/drawing/2014/main" id="{16C7D749-A2CE-4DC0-8447-013974010D76}"/>
              </a:ext>
            </a:extLst>
          </p:cNvPr>
          <p:cNvSpPr txBox="1"/>
          <p:nvPr/>
        </p:nvSpPr>
        <p:spPr>
          <a:xfrm>
            <a:off x="1982960" y="9215667"/>
            <a:ext cx="13726070" cy="69826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연구의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필요성을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작성해주시기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바랍니다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53C61427-2082-47F3-AD80-A141048F3A73}"/>
              </a:ext>
            </a:extLst>
          </p:cNvPr>
          <p:cNvSpPr txBox="1"/>
          <p:nvPr/>
        </p:nvSpPr>
        <p:spPr>
          <a:xfrm>
            <a:off x="2141655" y="18562837"/>
            <a:ext cx="13584341" cy="952172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연구목적과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연구문제를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작성해주시기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바랍니다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53" name="TextBox 21">
            <a:extLst>
              <a:ext uri="{FF2B5EF4-FFF2-40B4-BE49-F238E27FC236}">
                <a16:creationId xmlns:a16="http://schemas.microsoft.com/office/drawing/2014/main" id="{C8A6E5CF-1887-4651-A2A9-F8F538484F3E}"/>
              </a:ext>
            </a:extLst>
          </p:cNvPr>
          <p:cNvSpPr txBox="1"/>
          <p:nvPr/>
        </p:nvSpPr>
        <p:spPr>
          <a:xfrm>
            <a:off x="16538518" y="8152407"/>
            <a:ext cx="10029560" cy="634782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연구결과를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작성해주시기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바랍니다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54" name="TextBox 22">
            <a:extLst>
              <a:ext uri="{FF2B5EF4-FFF2-40B4-BE49-F238E27FC236}">
                <a16:creationId xmlns:a16="http://schemas.microsoft.com/office/drawing/2014/main" id="{5AC0C06B-EA0B-40EF-AB69-40332E3894E3}"/>
              </a:ext>
            </a:extLst>
          </p:cNvPr>
          <p:cNvSpPr txBox="1"/>
          <p:nvPr/>
        </p:nvSpPr>
        <p:spPr>
          <a:xfrm>
            <a:off x="1748091" y="24847181"/>
            <a:ext cx="14117558" cy="1345738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이론적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배경을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작성해주시기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바랍니다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.</a:t>
            </a:r>
          </a:p>
          <a:p>
            <a:pPr lvl="0" algn="l">
              <a:lnSpc>
                <a:spcPct val="132800"/>
              </a:lnSpc>
              <a:defRPr/>
            </a:pP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(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연구자의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필요에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따라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서론과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통합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가능합니다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.)</a:t>
            </a:r>
          </a:p>
        </p:txBody>
      </p:sp>
      <p:sp>
        <p:nvSpPr>
          <p:cNvPr id="55" name="TextBox 23">
            <a:extLst>
              <a:ext uri="{FF2B5EF4-FFF2-40B4-BE49-F238E27FC236}">
                <a16:creationId xmlns:a16="http://schemas.microsoft.com/office/drawing/2014/main" id="{A054E429-8DD9-4443-AEF9-E00249F50738}"/>
              </a:ext>
            </a:extLst>
          </p:cNvPr>
          <p:cNvSpPr txBox="1"/>
          <p:nvPr/>
        </p:nvSpPr>
        <p:spPr>
          <a:xfrm>
            <a:off x="1748091" y="33797611"/>
            <a:ext cx="14028688" cy="206939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연구방법에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대해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작성해주시기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바랍니다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.</a:t>
            </a:r>
          </a:p>
          <a:p>
            <a:pPr lvl="0" algn="l">
              <a:lnSpc>
                <a:spcPct val="132800"/>
              </a:lnSpc>
              <a:defRPr/>
            </a:pP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(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연구대상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,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측정도구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,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연구진행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절차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등</a:t>
            </a:r>
          </a:p>
          <a:p>
            <a:pPr lvl="0" algn="l">
              <a:lnSpc>
                <a:spcPct val="132800"/>
              </a:lnSpc>
              <a:defRPr/>
            </a:pP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연구물의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내용과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특성에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맞게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수정하시면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3499" dirty="0">
                <a:solidFill>
                  <a:srgbClr val="2C2C2C"/>
                </a:solidFill>
                <a:latin typeface="맑은 고딕"/>
              </a:rPr>
              <a:t>됩니다</a:t>
            </a:r>
            <a:r>
              <a:rPr lang="en-US" sz="3499" dirty="0">
                <a:solidFill>
                  <a:srgbClr val="2C2C2C"/>
                </a:solidFill>
                <a:latin typeface="맑은 고딕"/>
                <a:ea typeface="맑은 고딕"/>
              </a:rPr>
              <a:t>.)</a:t>
            </a:r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3A0E3AEE-F109-4E09-8C1B-CD8F73E9BDEF}"/>
              </a:ext>
            </a:extLst>
          </p:cNvPr>
          <p:cNvSpPr txBox="1"/>
          <p:nvPr/>
        </p:nvSpPr>
        <p:spPr>
          <a:xfrm>
            <a:off x="16678170" y="33759524"/>
            <a:ext cx="10029560" cy="634782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defRPr/>
            </a:pP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결론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및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논의를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작성해주시기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 </a:t>
            </a:r>
            <a:r>
              <a:rPr lang="ko-KR" altLang="en-US" sz="4000" dirty="0">
                <a:solidFill>
                  <a:srgbClr val="2C2C2C"/>
                </a:solidFill>
                <a:latin typeface="맑은 고딕"/>
              </a:rPr>
              <a:t>바랍니다</a:t>
            </a:r>
            <a:r>
              <a:rPr lang="en-US" sz="4000" dirty="0">
                <a:solidFill>
                  <a:srgbClr val="2C2C2C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36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</TotalTime>
  <Words>456</Words>
  <Application>Microsoft Office PowerPoint</Application>
  <PresentationFormat>사용자 지정</PresentationFormat>
  <Paragraphs>46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진성애</cp:lastModifiedBy>
  <cp:revision>15</cp:revision>
  <dcterms:created xsi:type="dcterms:W3CDTF">2026-05-04T08:16:34Z</dcterms:created>
  <dcterms:modified xsi:type="dcterms:W3CDTF">2026-06-01T05:53:37Z</dcterms:modified>
</cp:coreProperties>
</file>