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
  </p:notesMasterIdLst>
  <p:sldIdLst>
    <p:sldId id="258" r:id="rId2"/>
    <p:sldId id="257" r:id="rId3"/>
  </p:sldIdLst>
  <p:sldSz cx="30275213" cy="42803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varScale="1">
        <p:scale>
          <a:sx n="18" d="100"/>
          <a:sy n="18" d="100"/>
        </p:scale>
        <p:origin x="314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E7BBFD-5E7A-420E-906F-224713A988F7}" type="datetimeFigureOut">
              <a:rPr lang="ko-KR" altLang="en-US" smtClean="0"/>
              <a:t>2026-06-01</a:t>
            </a:fld>
            <a:endParaRPr lang="ko-KR" altLang="en-US"/>
          </a:p>
        </p:txBody>
      </p:sp>
      <p:sp>
        <p:nvSpPr>
          <p:cNvPr id="4" name="슬라이드 이미지 개체 틀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1E0AA4-30AB-474F-B4B1-9C48CDB48FCA}" type="slidenum">
              <a:rPr lang="ko-KR" altLang="en-US" smtClean="0"/>
              <a:t>‹#›</a:t>
            </a:fld>
            <a:endParaRPr lang="ko-KR" altLang="en-US"/>
          </a:p>
        </p:txBody>
      </p:sp>
    </p:spTree>
    <p:extLst>
      <p:ext uri="{BB962C8B-B14F-4D97-AF65-F5344CB8AC3E}">
        <p14:creationId xmlns:p14="http://schemas.microsoft.com/office/powerpoint/2010/main" val="3069802428"/>
      </p:ext>
    </p:extLst>
  </p:cSld>
  <p:clrMap bg1="lt1" tx1="dk1" bg2="lt2" tx2="dk2" accent1="accent1" accent2="accent2" accent3="accent3" accent4="accent4" accent5="accent5" accent6="accent6" hlink="hlink" folHlink="folHlink"/>
  <p:notesStyle>
    <a:lvl1pPr marL="0" algn="l" defTabSz="918881" rtl="0" eaLnBrk="1" latinLnBrk="1" hangingPunct="1">
      <a:defRPr sz="1206" kern="1200">
        <a:solidFill>
          <a:schemeClr val="tx1"/>
        </a:solidFill>
        <a:latin typeface="+mn-lt"/>
        <a:ea typeface="+mn-ea"/>
        <a:cs typeface="+mn-cs"/>
      </a:defRPr>
    </a:lvl1pPr>
    <a:lvl2pPr marL="459440" algn="l" defTabSz="918881" rtl="0" eaLnBrk="1" latinLnBrk="1" hangingPunct="1">
      <a:defRPr sz="1206" kern="1200">
        <a:solidFill>
          <a:schemeClr val="tx1"/>
        </a:solidFill>
        <a:latin typeface="+mn-lt"/>
        <a:ea typeface="+mn-ea"/>
        <a:cs typeface="+mn-cs"/>
      </a:defRPr>
    </a:lvl2pPr>
    <a:lvl3pPr marL="918881" algn="l" defTabSz="918881" rtl="0" eaLnBrk="1" latinLnBrk="1" hangingPunct="1">
      <a:defRPr sz="1206" kern="1200">
        <a:solidFill>
          <a:schemeClr val="tx1"/>
        </a:solidFill>
        <a:latin typeface="+mn-lt"/>
        <a:ea typeface="+mn-ea"/>
        <a:cs typeface="+mn-cs"/>
      </a:defRPr>
    </a:lvl3pPr>
    <a:lvl4pPr marL="1378321" algn="l" defTabSz="918881" rtl="0" eaLnBrk="1" latinLnBrk="1" hangingPunct="1">
      <a:defRPr sz="1206" kern="1200">
        <a:solidFill>
          <a:schemeClr val="tx1"/>
        </a:solidFill>
        <a:latin typeface="+mn-lt"/>
        <a:ea typeface="+mn-ea"/>
        <a:cs typeface="+mn-cs"/>
      </a:defRPr>
    </a:lvl4pPr>
    <a:lvl5pPr marL="1837761" algn="l" defTabSz="918881" rtl="0" eaLnBrk="1" latinLnBrk="1" hangingPunct="1">
      <a:defRPr sz="1206" kern="1200">
        <a:solidFill>
          <a:schemeClr val="tx1"/>
        </a:solidFill>
        <a:latin typeface="+mn-lt"/>
        <a:ea typeface="+mn-ea"/>
        <a:cs typeface="+mn-cs"/>
      </a:defRPr>
    </a:lvl5pPr>
    <a:lvl6pPr marL="2297201" algn="l" defTabSz="918881" rtl="0" eaLnBrk="1" latinLnBrk="1" hangingPunct="1">
      <a:defRPr sz="1206" kern="1200">
        <a:solidFill>
          <a:schemeClr val="tx1"/>
        </a:solidFill>
        <a:latin typeface="+mn-lt"/>
        <a:ea typeface="+mn-ea"/>
        <a:cs typeface="+mn-cs"/>
      </a:defRPr>
    </a:lvl6pPr>
    <a:lvl7pPr marL="2756642" algn="l" defTabSz="918881" rtl="0" eaLnBrk="1" latinLnBrk="1" hangingPunct="1">
      <a:defRPr sz="1206" kern="1200">
        <a:solidFill>
          <a:schemeClr val="tx1"/>
        </a:solidFill>
        <a:latin typeface="+mn-lt"/>
        <a:ea typeface="+mn-ea"/>
        <a:cs typeface="+mn-cs"/>
      </a:defRPr>
    </a:lvl7pPr>
    <a:lvl8pPr marL="3216082" algn="l" defTabSz="918881" rtl="0" eaLnBrk="1" latinLnBrk="1" hangingPunct="1">
      <a:defRPr sz="1206" kern="1200">
        <a:solidFill>
          <a:schemeClr val="tx1"/>
        </a:solidFill>
        <a:latin typeface="+mn-lt"/>
        <a:ea typeface="+mn-ea"/>
        <a:cs typeface="+mn-cs"/>
      </a:defRPr>
    </a:lvl8pPr>
    <a:lvl9pPr marL="3675522" algn="l" defTabSz="918881" rtl="0" eaLnBrk="1" latinLnBrk="1" hangingPunct="1">
      <a:defRPr sz="1206"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7005156"/>
            <a:ext cx="25733931" cy="14902051"/>
          </a:xfrm>
        </p:spPr>
        <p:txBody>
          <a:bodyPr anchor="b"/>
          <a:lstStyle>
            <a:lvl1pPr algn="ctr">
              <a:defRPr sz="19865"/>
            </a:lvl1pPr>
          </a:lstStyle>
          <a:p>
            <a:r>
              <a:rPr lang="ko-KR" altLang="en-US"/>
              <a:t>마스터 제목 스타일 편집</a:t>
            </a:r>
            <a:endParaRPr lang="en-US" dirty="0"/>
          </a:p>
        </p:txBody>
      </p:sp>
      <p:sp>
        <p:nvSpPr>
          <p:cNvPr id="3" name="Subtitle 2"/>
          <p:cNvSpPr>
            <a:spLocks noGrp="1"/>
          </p:cNvSpPr>
          <p:nvPr>
            <p:ph type="subTitle" idx="1"/>
          </p:nvPr>
        </p:nvSpPr>
        <p:spPr>
          <a:xfrm>
            <a:off x="3784402" y="22481887"/>
            <a:ext cx="22706410" cy="10334331"/>
          </a:xfrm>
        </p:spPr>
        <p:txBody>
          <a:bodyPr/>
          <a:lstStyle>
            <a:lvl1pPr marL="0" indent="0" algn="ctr">
              <a:buNone/>
              <a:defRPr sz="7946"/>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47DD02C4-2C0E-498F-9BDF-E3141BBB66EA}" type="datetimeFigureOut">
              <a:rPr lang="ko-KR" altLang="en-US" smtClean="0"/>
              <a:t>2026-06-01</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CB298137-A1F2-412F-ACDF-12424B79FF16}" type="slidenum">
              <a:rPr lang="ko-KR" altLang="en-US" smtClean="0"/>
              <a:t>‹#›</a:t>
            </a:fld>
            <a:endParaRPr lang="ko-KR" altLang="en-US"/>
          </a:p>
        </p:txBody>
      </p:sp>
    </p:spTree>
    <p:extLst>
      <p:ext uri="{BB962C8B-B14F-4D97-AF65-F5344CB8AC3E}">
        <p14:creationId xmlns:p14="http://schemas.microsoft.com/office/powerpoint/2010/main" val="40369189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47DD02C4-2C0E-498F-9BDF-E3141BBB66EA}" type="datetimeFigureOut">
              <a:rPr lang="ko-KR" altLang="en-US" smtClean="0"/>
              <a:t>2026-06-01</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CB298137-A1F2-412F-ACDF-12424B79FF16}" type="slidenum">
              <a:rPr lang="ko-KR" altLang="en-US" smtClean="0"/>
              <a:t>‹#›</a:t>
            </a:fld>
            <a:endParaRPr lang="ko-KR" altLang="en-US"/>
          </a:p>
        </p:txBody>
      </p:sp>
    </p:spTree>
    <p:extLst>
      <p:ext uri="{BB962C8B-B14F-4D97-AF65-F5344CB8AC3E}">
        <p14:creationId xmlns:p14="http://schemas.microsoft.com/office/powerpoint/2010/main" val="3589272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71229"/>
            <a:ext cx="26112371" cy="17805173"/>
          </a:xfrm>
        </p:spPr>
        <p:txBody>
          <a:bodyPr anchor="b"/>
          <a:lstStyle>
            <a:lvl1pPr>
              <a:defRPr sz="19865"/>
            </a:lvl1pPr>
          </a:lstStyle>
          <a:p>
            <a:r>
              <a:rPr lang="ko-KR" altLang="en-US"/>
              <a:t>마스터 제목 스타일 편집</a:t>
            </a:r>
            <a:endParaRPr lang="en-US" dirty="0"/>
          </a:p>
        </p:txBody>
      </p:sp>
      <p:sp>
        <p:nvSpPr>
          <p:cNvPr id="3" name="Text Placeholder 2"/>
          <p:cNvSpPr>
            <a:spLocks noGrp="1"/>
          </p:cNvSpPr>
          <p:nvPr>
            <p:ph type="body" idx="1"/>
          </p:nvPr>
        </p:nvSpPr>
        <p:spPr>
          <a:xfrm>
            <a:off x="2065654" y="28644846"/>
            <a:ext cx="26112371" cy="9363320"/>
          </a:xfrm>
        </p:spPr>
        <p:txBody>
          <a:bodyPr/>
          <a:lstStyle>
            <a:lvl1pPr marL="0" indent="0">
              <a:buNone/>
              <a:defRPr sz="7946">
                <a:solidFill>
                  <a:schemeClr val="tx1"/>
                </a:solidFill>
              </a:defRPr>
            </a:lvl1pPr>
            <a:lvl2pPr marL="1513743" indent="0">
              <a:buNone/>
              <a:defRPr sz="6622">
                <a:solidFill>
                  <a:schemeClr val="tx1">
                    <a:tint val="75000"/>
                  </a:schemeClr>
                </a:solidFill>
              </a:defRPr>
            </a:lvl2pPr>
            <a:lvl3pPr marL="3027487" indent="0">
              <a:buNone/>
              <a:defRPr sz="5960">
                <a:solidFill>
                  <a:schemeClr val="tx1">
                    <a:tint val="75000"/>
                  </a:schemeClr>
                </a:solidFill>
              </a:defRPr>
            </a:lvl3pPr>
            <a:lvl4pPr marL="4541230" indent="0">
              <a:buNone/>
              <a:defRPr sz="5297">
                <a:solidFill>
                  <a:schemeClr val="tx1">
                    <a:tint val="75000"/>
                  </a:schemeClr>
                </a:solidFill>
              </a:defRPr>
            </a:lvl4pPr>
            <a:lvl5pPr marL="6054974" indent="0">
              <a:buNone/>
              <a:defRPr sz="5297">
                <a:solidFill>
                  <a:schemeClr val="tx1">
                    <a:tint val="75000"/>
                  </a:schemeClr>
                </a:solidFill>
              </a:defRPr>
            </a:lvl5pPr>
            <a:lvl6pPr marL="7568717" indent="0">
              <a:buNone/>
              <a:defRPr sz="5297">
                <a:solidFill>
                  <a:schemeClr val="tx1">
                    <a:tint val="75000"/>
                  </a:schemeClr>
                </a:solidFill>
              </a:defRPr>
            </a:lvl6pPr>
            <a:lvl7pPr marL="9082461" indent="0">
              <a:buNone/>
              <a:defRPr sz="5297">
                <a:solidFill>
                  <a:schemeClr val="tx1">
                    <a:tint val="75000"/>
                  </a:schemeClr>
                </a:solidFill>
              </a:defRPr>
            </a:lvl7pPr>
            <a:lvl8pPr marL="10596204" indent="0">
              <a:buNone/>
              <a:defRPr sz="5297">
                <a:solidFill>
                  <a:schemeClr val="tx1">
                    <a:tint val="75000"/>
                  </a:schemeClr>
                </a:solidFill>
              </a:defRPr>
            </a:lvl8pPr>
            <a:lvl9pPr marL="12109948" indent="0">
              <a:buNone/>
              <a:defRPr sz="5297">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47DD02C4-2C0E-498F-9BDF-E3141BBB66EA}" type="datetimeFigureOut">
              <a:rPr lang="ko-KR" altLang="en-US" smtClean="0"/>
              <a:t>2026-06-01</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CB298137-A1F2-412F-ACDF-12424B79FF16}" type="slidenum">
              <a:rPr lang="ko-KR" altLang="en-US" smtClean="0"/>
              <a:t>‹#›</a:t>
            </a:fld>
            <a:endParaRPr lang="ko-KR" altLang="en-US"/>
          </a:p>
        </p:txBody>
      </p:sp>
    </p:spTree>
    <p:extLst>
      <p:ext uri="{BB962C8B-B14F-4D97-AF65-F5344CB8AC3E}">
        <p14:creationId xmlns:p14="http://schemas.microsoft.com/office/powerpoint/2010/main" val="3732046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2081421" y="11394520"/>
            <a:ext cx="12866966" cy="27158594"/>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15326826" y="11394520"/>
            <a:ext cx="12866966" cy="27158594"/>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p:txBody>
          <a:bodyPr/>
          <a:lstStyle/>
          <a:p>
            <a:fld id="{47DD02C4-2C0E-498F-9BDF-E3141BBB66EA}" type="datetimeFigureOut">
              <a:rPr lang="ko-KR" altLang="en-US" smtClean="0"/>
              <a:t>2026-06-01</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CB298137-A1F2-412F-ACDF-12424B79FF16}" type="slidenum">
              <a:rPr lang="ko-KR" altLang="en-US" smtClean="0"/>
              <a:t>‹#›</a:t>
            </a:fld>
            <a:endParaRPr lang="ko-KR" altLang="en-US"/>
          </a:p>
        </p:txBody>
      </p:sp>
    </p:spTree>
    <p:extLst>
      <p:ext uri="{BB962C8B-B14F-4D97-AF65-F5344CB8AC3E}">
        <p14:creationId xmlns:p14="http://schemas.microsoft.com/office/powerpoint/2010/main" val="963046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2085364" y="2278913"/>
            <a:ext cx="26112371" cy="8273416"/>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2085368" y="10492870"/>
            <a:ext cx="12807832"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2085368" y="15635264"/>
            <a:ext cx="12807832" cy="22997117"/>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15326828" y="10492870"/>
            <a:ext cx="12870909"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15326828" y="15635264"/>
            <a:ext cx="12870909" cy="22997117"/>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p:txBody>
          <a:bodyPr/>
          <a:lstStyle/>
          <a:p>
            <a:fld id="{47DD02C4-2C0E-498F-9BDF-E3141BBB66EA}" type="datetimeFigureOut">
              <a:rPr lang="ko-KR" altLang="en-US" smtClean="0"/>
              <a:t>2026-06-01</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CB298137-A1F2-412F-ACDF-12424B79FF16}" type="slidenum">
              <a:rPr lang="ko-KR" altLang="en-US" smtClean="0"/>
              <a:t>‹#›</a:t>
            </a:fld>
            <a:endParaRPr lang="ko-KR" altLang="en-US"/>
          </a:p>
        </p:txBody>
      </p:sp>
    </p:spTree>
    <p:extLst>
      <p:ext uri="{BB962C8B-B14F-4D97-AF65-F5344CB8AC3E}">
        <p14:creationId xmlns:p14="http://schemas.microsoft.com/office/powerpoint/2010/main" val="26330315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47DD02C4-2C0E-498F-9BDF-E3141BBB66EA}" type="datetimeFigureOut">
              <a:rPr lang="ko-KR" altLang="en-US" smtClean="0"/>
              <a:t>2026-06-01</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CB298137-A1F2-412F-ACDF-12424B79FF16}" type="slidenum">
              <a:rPr lang="ko-KR" altLang="en-US" smtClean="0"/>
              <a:t>‹#›</a:t>
            </a:fld>
            <a:endParaRPr lang="ko-KR" altLang="en-US"/>
          </a:p>
        </p:txBody>
      </p:sp>
    </p:spTree>
    <p:extLst>
      <p:ext uri="{BB962C8B-B14F-4D97-AF65-F5344CB8AC3E}">
        <p14:creationId xmlns:p14="http://schemas.microsoft.com/office/powerpoint/2010/main" val="2383923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DD02C4-2C0E-498F-9BDF-E3141BBB66EA}" type="datetimeFigureOut">
              <a:rPr lang="ko-KR" altLang="en-US" smtClean="0"/>
              <a:t>2026-06-01</a:t>
            </a:fld>
            <a:endParaRPr lang="ko-KR" altLang="en-US"/>
          </a:p>
        </p:txBody>
      </p:sp>
      <p:sp>
        <p:nvSpPr>
          <p:cNvPr id="3" name="Footer Placeholder 2"/>
          <p:cNvSpPr>
            <a:spLocks noGrp="1"/>
          </p:cNvSpPr>
          <p:nvPr>
            <p:ph type="ftr" sz="quarter" idx="11"/>
          </p:nvPr>
        </p:nvSpPr>
        <p:spPr/>
        <p:txBody>
          <a:bodyPr/>
          <a:lstStyle/>
          <a:p>
            <a:endParaRPr lang="ko-KR" altLang="en-US"/>
          </a:p>
        </p:txBody>
      </p:sp>
      <p:sp>
        <p:nvSpPr>
          <p:cNvPr id="4" name="Slide Number Placeholder 3"/>
          <p:cNvSpPr>
            <a:spLocks noGrp="1"/>
          </p:cNvSpPr>
          <p:nvPr>
            <p:ph type="sldNum" sz="quarter" idx="12"/>
          </p:nvPr>
        </p:nvSpPr>
        <p:spPr/>
        <p:txBody>
          <a:bodyPr/>
          <a:lstStyle/>
          <a:p>
            <a:fld id="{CB298137-A1F2-412F-ACDF-12424B79FF16}" type="slidenum">
              <a:rPr lang="ko-KR" altLang="en-US" smtClean="0"/>
              <a:t>‹#›</a:t>
            </a:fld>
            <a:endParaRPr lang="ko-KR" altLang="en-US"/>
          </a:p>
        </p:txBody>
      </p:sp>
    </p:spTree>
    <p:extLst>
      <p:ext uri="{BB962C8B-B14F-4D97-AF65-F5344CB8AC3E}">
        <p14:creationId xmlns:p14="http://schemas.microsoft.com/office/powerpoint/2010/main" val="3852020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ko-KR" altLang="en-US"/>
              <a:t>마스터 제목 스타일 편집</a:t>
            </a:r>
            <a:endParaRPr lang="en-US" dirty="0"/>
          </a:p>
        </p:txBody>
      </p:sp>
      <p:sp>
        <p:nvSpPr>
          <p:cNvPr id="3" name="Content Placeholder 2"/>
          <p:cNvSpPr>
            <a:spLocks noGrp="1"/>
          </p:cNvSpPr>
          <p:nvPr>
            <p:ph idx="1"/>
          </p:nvPr>
        </p:nvSpPr>
        <p:spPr>
          <a:xfrm>
            <a:off x="12870909" y="6162959"/>
            <a:ext cx="15326827" cy="30418415"/>
          </a:xfrm>
        </p:spPr>
        <p:txBody>
          <a:bodyPr/>
          <a:lstStyle>
            <a:lvl1pPr>
              <a:defRPr sz="10595"/>
            </a:lvl1pPr>
            <a:lvl2pPr>
              <a:defRPr sz="9271"/>
            </a:lvl2pPr>
            <a:lvl3pPr>
              <a:defRPr sz="7946"/>
            </a:lvl3pPr>
            <a:lvl4pPr>
              <a:defRPr sz="6622"/>
            </a:lvl4pPr>
            <a:lvl5pPr>
              <a:defRPr sz="6622"/>
            </a:lvl5pPr>
            <a:lvl6pPr>
              <a:defRPr sz="6622"/>
            </a:lvl6pPr>
            <a:lvl7pPr>
              <a:defRPr sz="6622"/>
            </a:lvl7pPr>
            <a:lvl8pPr>
              <a:defRPr sz="6622"/>
            </a:lvl8pPr>
            <a:lvl9pPr>
              <a:defRPr sz="6622"/>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47DD02C4-2C0E-498F-9BDF-E3141BBB66EA}" type="datetimeFigureOut">
              <a:rPr lang="ko-KR" altLang="en-US" smtClean="0"/>
              <a:t>2026-06-01</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CB298137-A1F2-412F-ACDF-12424B79FF16}" type="slidenum">
              <a:rPr lang="ko-KR" altLang="en-US" smtClean="0"/>
              <a:t>‹#›</a:t>
            </a:fld>
            <a:endParaRPr lang="ko-KR" altLang="en-US"/>
          </a:p>
        </p:txBody>
      </p:sp>
    </p:spTree>
    <p:extLst>
      <p:ext uri="{BB962C8B-B14F-4D97-AF65-F5344CB8AC3E}">
        <p14:creationId xmlns:p14="http://schemas.microsoft.com/office/powerpoint/2010/main" val="2976834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12870909" y="6162959"/>
            <a:ext cx="15326827" cy="30418415"/>
          </a:xfrm>
        </p:spPr>
        <p:txBody>
          <a:bodyPr anchor="t"/>
          <a:lstStyle>
            <a:lvl1pPr marL="0" indent="0">
              <a:buNone/>
              <a:defRPr sz="10595"/>
            </a:lvl1pPr>
            <a:lvl2pPr marL="1513743" indent="0">
              <a:buNone/>
              <a:defRPr sz="9271"/>
            </a:lvl2pPr>
            <a:lvl3pPr marL="3027487" indent="0">
              <a:buNone/>
              <a:defRPr sz="7946"/>
            </a:lvl3pPr>
            <a:lvl4pPr marL="4541230" indent="0">
              <a:buNone/>
              <a:defRPr sz="6622"/>
            </a:lvl4pPr>
            <a:lvl5pPr marL="6054974" indent="0">
              <a:buNone/>
              <a:defRPr sz="6622"/>
            </a:lvl5pPr>
            <a:lvl6pPr marL="7568717" indent="0">
              <a:buNone/>
              <a:defRPr sz="6622"/>
            </a:lvl6pPr>
            <a:lvl7pPr marL="9082461" indent="0">
              <a:buNone/>
              <a:defRPr sz="6622"/>
            </a:lvl7pPr>
            <a:lvl8pPr marL="10596204" indent="0">
              <a:buNone/>
              <a:defRPr sz="6622"/>
            </a:lvl8pPr>
            <a:lvl9pPr marL="12109948" indent="0">
              <a:buNone/>
              <a:defRPr sz="6622"/>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47DD02C4-2C0E-498F-9BDF-E3141BBB66EA}" type="datetimeFigureOut">
              <a:rPr lang="ko-KR" altLang="en-US" smtClean="0"/>
              <a:t>2026-06-01</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CB298137-A1F2-412F-ACDF-12424B79FF16}" type="slidenum">
              <a:rPr lang="ko-KR" altLang="en-US" smtClean="0"/>
              <a:t>‹#›</a:t>
            </a:fld>
            <a:endParaRPr lang="ko-KR" altLang="en-US"/>
          </a:p>
        </p:txBody>
      </p:sp>
    </p:spTree>
    <p:extLst>
      <p:ext uri="{BB962C8B-B14F-4D97-AF65-F5344CB8AC3E}">
        <p14:creationId xmlns:p14="http://schemas.microsoft.com/office/powerpoint/2010/main" val="1233455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47DD02C4-2C0E-498F-9BDF-E3141BBB66EA}" type="datetimeFigureOut">
              <a:rPr lang="ko-KR" altLang="en-US" smtClean="0"/>
              <a:t>2026-06-01</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CB298137-A1F2-412F-ACDF-12424B79FF16}" type="slidenum">
              <a:rPr lang="ko-KR" altLang="en-US" smtClean="0"/>
              <a:t>‹#›</a:t>
            </a:fld>
            <a:endParaRPr lang="ko-KR" altLang="en-US"/>
          </a:p>
        </p:txBody>
      </p:sp>
    </p:spTree>
    <p:extLst>
      <p:ext uri="{BB962C8B-B14F-4D97-AF65-F5344CB8AC3E}">
        <p14:creationId xmlns:p14="http://schemas.microsoft.com/office/powerpoint/2010/main" val="3588853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2278904"/>
            <a:ext cx="6528093" cy="36274211"/>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2081423" y="2278904"/>
            <a:ext cx="19205838" cy="36274211"/>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47DD02C4-2C0E-498F-9BDF-E3141BBB66EA}" type="datetimeFigureOut">
              <a:rPr lang="ko-KR" altLang="en-US" smtClean="0"/>
              <a:t>2026-06-01</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CB298137-A1F2-412F-ACDF-12424B79FF16}" type="slidenum">
              <a:rPr lang="ko-KR" altLang="en-US" smtClean="0"/>
              <a:t>‹#›</a:t>
            </a:fld>
            <a:endParaRPr lang="ko-KR" altLang="en-US"/>
          </a:p>
        </p:txBody>
      </p:sp>
    </p:spTree>
    <p:extLst>
      <p:ext uri="{BB962C8B-B14F-4D97-AF65-F5344CB8AC3E}">
        <p14:creationId xmlns:p14="http://schemas.microsoft.com/office/powerpoint/2010/main" val="70547620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2278913"/>
            <a:ext cx="26112371" cy="8273416"/>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2081421" y="11394520"/>
            <a:ext cx="26112371" cy="27158594"/>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2"/>
          </p:nvPr>
        </p:nvSpPr>
        <p:spPr>
          <a:xfrm>
            <a:off x="2081421" y="39672756"/>
            <a:ext cx="6811923" cy="2278904"/>
          </a:xfrm>
          <a:prstGeom prst="rect">
            <a:avLst/>
          </a:prstGeom>
        </p:spPr>
        <p:txBody>
          <a:bodyPr vert="horz" lIns="91440" tIns="45720" rIns="91440" bIns="45720" rtlCol="0" anchor="ctr"/>
          <a:lstStyle>
            <a:lvl1pPr algn="l">
              <a:defRPr sz="3973">
                <a:solidFill>
                  <a:schemeClr val="tx1">
                    <a:tint val="75000"/>
                  </a:schemeClr>
                </a:solidFill>
              </a:defRPr>
            </a:lvl1pPr>
          </a:lstStyle>
          <a:p>
            <a:fld id="{47DD02C4-2C0E-498F-9BDF-E3141BBB66EA}" type="datetimeFigureOut">
              <a:rPr lang="ko-KR" altLang="en-US" smtClean="0"/>
              <a:t>2026-06-01</a:t>
            </a:fld>
            <a:endParaRPr lang="ko-KR" altLang="en-US"/>
          </a:p>
        </p:txBody>
      </p:sp>
      <p:sp>
        <p:nvSpPr>
          <p:cNvPr id="5" name="Footer Placeholder 4"/>
          <p:cNvSpPr>
            <a:spLocks noGrp="1"/>
          </p:cNvSpPr>
          <p:nvPr>
            <p:ph type="ftr" sz="quarter" idx="3"/>
          </p:nvPr>
        </p:nvSpPr>
        <p:spPr>
          <a:xfrm>
            <a:off x="10028665" y="39672756"/>
            <a:ext cx="10217884" cy="2278904"/>
          </a:xfrm>
          <a:prstGeom prst="rect">
            <a:avLst/>
          </a:prstGeom>
        </p:spPr>
        <p:txBody>
          <a:bodyPr vert="horz" lIns="91440" tIns="45720" rIns="91440" bIns="45720" rtlCol="0" anchor="ctr"/>
          <a:lstStyle>
            <a:lvl1pPr algn="ctr">
              <a:defRPr sz="3973">
                <a:solidFill>
                  <a:schemeClr val="tx1">
                    <a:tint val="75000"/>
                  </a:schemeClr>
                </a:solidFill>
              </a:defRPr>
            </a:lvl1pPr>
          </a:lstStyle>
          <a:p>
            <a:endParaRPr lang="ko-KR" altLang="en-US"/>
          </a:p>
        </p:txBody>
      </p:sp>
      <p:sp>
        <p:nvSpPr>
          <p:cNvPr id="6" name="Slide Number Placeholder 5"/>
          <p:cNvSpPr>
            <a:spLocks noGrp="1"/>
          </p:cNvSpPr>
          <p:nvPr>
            <p:ph type="sldNum" sz="quarter" idx="4"/>
          </p:nvPr>
        </p:nvSpPr>
        <p:spPr>
          <a:xfrm>
            <a:off x="21381869" y="39672756"/>
            <a:ext cx="6811923" cy="2278904"/>
          </a:xfrm>
          <a:prstGeom prst="rect">
            <a:avLst/>
          </a:prstGeom>
        </p:spPr>
        <p:txBody>
          <a:bodyPr vert="horz" lIns="91440" tIns="45720" rIns="91440" bIns="45720" rtlCol="0" anchor="ctr"/>
          <a:lstStyle>
            <a:lvl1pPr algn="r">
              <a:defRPr sz="3973">
                <a:solidFill>
                  <a:schemeClr val="tx1">
                    <a:tint val="75000"/>
                  </a:schemeClr>
                </a:solidFill>
              </a:defRPr>
            </a:lvl1pPr>
          </a:lstStyle>
          <a:p>
            <a:fld id="{CB298137-A1F2-412F-ACDF-12424B79FF16}" type="slidenum">
              <a:rPr lang="ko-KR" altLang="en-US" smtClean="0"/>
              <a:t>‹#›</a:t>
            </a:fld>
            <a:endParaRPr lang="ko-KR" altLang="en-US"/>
          </a:p>
        </p:txBody>
      </p:sp>
    </p:spTree>
    <p:extLst>
      <p:ext uri="{BB962C8B-B14F-4D97-AF65-F5344CB8AC3E}">
        <p14:creationId xmlns:p14="http://schemas.microsoft.com/office/powerpoint/2010/main" val="406527153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027487" rtl="0" eaLnBrk="1" latinLnBrk="1" hangingPunct="1">
        <a:lnSpc>
          <a:spcPct val="90000"/>
        </a:lnSpc>
        <a:spcBef>
          <a:spcPct val="0"/>
        </a:spcBef>
        <a:buNone/>
        <a:defRPr sz="14568" kern="1200">
          <a:solidFill>
            <a:schemeClr val="tx1"/>
          </a:solidFill>
          <a:latin typeface="+mj-lt"/>
          <a:ea typeface="+mj-ea"/>
          <a:cs typeface="+mj-cs"/>
        </a:defRPr>
      </a:lvl1pPr>
    </p:titleStyle>
    <p:bodyStyle>
      <a:lvl1pPr marL="756872" indent="-756872" algn="l" defTabSz="3027487" rtl="0" eaLnBrk="1" latinLnBrk="1"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615" indent="-756872" algn="l" defTabSz="3027487" rtl="0" eaLnBrk="1" latinLnBrk="1"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359" indent="-756872" algn="l" defTabSz="3027487" rtl="0" eaLnBrk="1" latinLnBrk="1"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102" indent="-756872" algn="l" defTabSz="3027487" rtl="0" eaLnBrk="1" latinLnBrk="1"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846" indent="-756872" algn="l" defTabSz="3027487" rtl="0" eaLnBrk="1" latinLnBrk="1"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589" indent="-756872" algn="l" defTabSz="3027487" rtl="0" eaLnBrk="1" latinLnBrk="1"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1"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1"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1"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1" hangingPunct="1">
        <a:defRPr sz="5960" kern="1200">
          <a:solidFill>
            <a:schemeClr val="tx1"/>
          </a:solidFill>
          <a:latin typeface="+mn-lt"/>
          <a:ea typeface="+mn-ea"/>
          <a:cs typeface="+mn-cs"/>
        </a:defRPr>
      </a:lvl1pPr>
      <a:lvl2pPr marL="1513743" algn="l" defTabSz="3027487" rtl="0" eaLnBrk="1" latinLnBrk="1" hangingPunct="1">
        <a:defRPr sz="5960" kern="1200">
          <a:solidFill>
            <a:schemeClr val="tx1"/>
          </a:solidFill>
          <a:latin typeface="+mn-lt"/>
          <a:ea typeface="+mn-ea"/>
          <a:cs typeface="+mn-cs"/>
        </a:defRPr>
      </a:lvl2pPr>
      <a:lvl3pPr marL="3027487" algn="l" defTabSz="3027487" rtl="0" eaLnBrk="1" latinLnBrk="1" hangingPunct="1">
        <a:defRPr sz="5960" kern="1200">
          <a:solidFill>
            <a:schemeClr val="tx1"/>
          </a:solidFill>
          <a:latin typeface="+mn-lt"/>
          <a:ea typeface="+mn-ea"/>
          <a:cs typeface="+mn-cs"/>
        </a:defRPr>
      </a:lvl3pPr>
      <a:lvl4pPr marL="4541230" algn="l" defTabSz="3027487" rtl="0" eaLnBrk="1" latinLnBrk="1" hangingPunct="1">
        <a:defRPr sz="5960" kern="1200">
          <a:solidFill>
            <a:schemeClr val="tx1"/>
          </a:solidFill>
          <a:latin typeface="+mn-lt"/>
          <a:ea typeface="+mn-ea"/>
          <a:cs typeface="+mn-cs"/>
        </a:defRPr>
      </a:lvl4pPr>
      <a:lvl5pPr marL="6054974" algn="l" defTabSz="3027487" rtl="0" eaLnBrk="1" latinLnBrk="1" hangingPunct="1">
        <a:defRPr sz="5960" kern="1200">
          <a:solidFill>
            <a:schemeClr val="tx1"/>
          </a:solidFill>
          <a:latin typeface="+mn-lt"/>
          <a:ea typeface="+mn-ea"/>
          <a:cs typeface="+mn-cs"/>
        </a:defRPr>
      </a:lvl5pPr>
      <a:lvl6pPr marL="7568717" algn="l" defTabSz="3027487" rtl="0" eaLnBrk="1" latinLnBrk="1" hangingPunct="1">
        <a:defRPr sz="5960" kern="1200">
          <a:solidFill>
            <a:schemeClr val="tx1"/>
          </a:solidFill>
          <a:latin typeface="+mn-lt"/>
          <a:ea typeface="+mn-ea"/>
          <a:cs typeface="+mn-cs"/>
        </a:defRPr>
      </a:lvl6pPr>
      <a:lvl7pPr marL="9082461" algn="l" defTabSz="3027487" rtl="0" eaLnBrk="1" latinLnBrk="1" hangingPunct="1">
        <a:defRPr sz="5960" kern="1200">
          <a:solidFill>
            <a:schemeClr val="tx1"/>
          </a:solidFill>
          <a:latin typeface="+mn-lt"/>
          <a:ea typeface="+mn-ea"/>
          <a:cs typeface="+mn-cs"/>
        </a:defRPr>
      </a:lvl7pPr>
      <a:lvl8pPr marL="10596204" algn="l" defTabSz="3027487" rtl="0" eaLnBrk="1" latinLnBrk="1" hangingPunct="1">
        <a:defRPr sz="5960" kern="1200">
          <a:solidFill>
            <a:schemeClr val="tx1"/>
          </a:solidFill>
          <a:latin typeface="+mn-lt"/>
          <a:ea typeface="+mn-ea"/>
          <a:cs typeface="+mn-cs"/>
        </a:defRPr>
      </a:lvl8pPr>
      <a:lvl9pPr marL="12109948" algn="l" defTabSz="3027487" rtl="0" eaLnBrk="1" latinLnBrk="1"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forms.gle/ggtkkF2ASiD2vRpP7" TargetMode="External"/><Relationship Id="rId3" Type="http://schemas.openxmlformats.org/officeDocument/2006/relationships/hyperlink" Target="mailto:kca11402@counselors.or.kr"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a:extLst>
              <a:ext uri="{FF2B5EF4-FFF2-40B4-BE49-F238E27FC236}">
                <a16:creationId xmlns:a16="http://schemas.microsoft.com/office/drawing/2014/main" id="{D42342D0-F1C0-2618-9847-667C9543A3E5}"/>
              </a:ext>
            </a:extLst>
          </p:cNvPr>
          <p:cNvSpPr>
            <a:spLocks noGrp="1"/>
          </p:cNvSpPr>
          <p:nvPr>
            <p:ph idx="1"/>
          </p:nvPr>
        </p:nvSpPr>
        <p:spPr>
          <a:xfrm>
            <a:off x="1704902" y="591671"/>
            <a:ext cx="26112371" cy="27795467"/>
          </a:xfrm>
        </p:spPr>
        <p:txBody>
          <a:bodyPr>
            <a:noAutofit/>
          </a:bodyPr>
          <a:lstStyle/>
          <a:p>
            <a:pPr marL="0" indent="0" algn="just">
              <a:buNone/>
            </a:pPr>
            <a:r>
              <a:rPr lang="en-US" altLang="ko-KR" sz="7200" b="1" dirty="0">
                <a:latin typeface="+mj-ea"/>
                <a:ea typeface="+mj-ea"/>
              </a:rPr>
              <a:t>1. </a:t>
            </a:r>
            <a:r>
              <a:rPr lang="ko-KR" altLang="en-US" sz="7200" b="1" dirty="0">
                <a:latin typeface="+mj-ea"/>
                <a:ea typeface="+mj-ea"/>
              </a:rPr>
              <a:t>포스터논문 제출 안내</a:t>
            </a:r>
            <a:endParaRPr lang="en-US" altLang="ko-KR" sz="7200" b="1" dirty="0">
              <a:latin typeface="+mj-ea"/>
              <a:ea typeface="+mj-ea"/>
            </a:endParaRPr>
          </a:p>
          <a:p>
            <a:pPr marL="0" marR="0" indent="0" algn="just" fontAlgn="base" latinLnBrk="0">
              <a:lnSpc>
                <a:spcPct val="170000"/>
              </a:lnSpc>
              <a:spcBef>
                <a:spcPts val="0"/>
              </a:spcBef>
              <a:spcAft>
                <a:spcPts val="0"/>
              </a:spcAft>
              <a:buNone/>
            </a:pPr>
            <a:r>
              <a:rPr lang="en-US" altLang="ko-KR" sz="5000" b="1" kern="0" spc="-10" dirty="0">
                <a:solidFill>
                  <a:srgbClr val="FF0000"/>
                </a:solidFill>
                <a:effectLst/>
                <a:latin typeface="+mj-ea"/>
                <a:ea typeface="+mj-ea"/>
              </a:rPr>
              <a:t>1) </a:t>
            </a:r>
            <a:r>
              <a:rPr lang="ko-KR" altLang="en-US" sz="5000" b="1" kern="0" spc="-10" dirty="0">
                <a:solidFill>
                  <a:srgbClr val="FF0000"/>
                </a:solidFill>
                <a:effectLst/>
                <a:latin typeface="+mj-ea"/>
                <a:ea typeface="+mj-ea"/>
              </a:rPr>
              <a:t>제출기한</a:t>
            </a:r>
            <a:r>
              <a:rPr lang="en-US" altLang="ko-KR" sz="5000" b="1" kern="0" spc="-10" dirty="0">
                <a:solidFill>
                  <a:srgbClr val="FF0000"/>
                </a:solidFill>
                <a:effectLst/>
                <a:latin typeface="+mj-ea"/>
                <a:ea typeface="+mj-ea"/>
              </a:rPr>
              <a:t>: 6</a:t>
            </a:r>
            <a:r>
              <a:rPr lang="ko-KR" altLang="en-US" sz="5000" b="1" kern="0" spc="-10" dirty="0">
                <a:solidFill>
                  <a:srgbClr val="FF0000"/>
                </a:solidFill>
                <a:effectLst/>
                <a:latin typeface="+mj-ea"/>
                <a:ea typeface="+mj-ea"/>
              </a:rPr>
              <a:t>월 </a:t>
            </a:r>
            <a:r>
              <a:rPr lang="en-US" altLang="ko-KR" sz="5000" b="1" kern="0" spc="-10" dirty="0">
                <a:solidFill>
                  <a:srgbClr val="FF0000"/>
                </a:solidFill>
                <a:effectLst/>
                <a:latin typeface="+mj-ea"/>
                <a:ea typeface="+mj-ea"/>
              </a:rPr>
              <a:t>17</a:t>
            </a:r>
            <a:r>
              <a:rPr lang="ko-KR" altLang="en-US" sz="5000" b="1" kern="0" spc="-10" dirty="0">
                <a:solidFill>
                  <a:srgbClr val="FF0000"/>
                </a:solidFill>
                <a:effectLst/>
                <a:latin typeface="+mj-ea"/>
                <a:ea typeface="+mj-ea"/>
              </a:rPr>
              <a:t>일</a:t>
            </a:r>
            <a:r>
              <a:rPr lang="en-US" altLang="ko-KR" sz="5000" b="1" kern="0" spc="-10" dirty="0">
                <a:solidFill>
                  <a:srgbClr val="FF0000"/>
                </a:solidFill>
                <a:effectLst/>
                <a:latin typeface="+mj-ea"/>
                <a:ea typeface="+mj-ea"/>
              </a:rPr>
              <a:t>(</a:t>
            </a:r>
            <a:r>
              <a:rPr lang="ko-KR" altLang="en-US" sz="5000" b="1" kern="0" spc="-10" dirty="0">
                <a:solidFill>
                  <a:srgbClr val="FF0000"/>
                </a:solidFill>
                <a:effectLst/>
                <a:latin typeface="+mj-ea"/>
                <a:ea typeface="+mj-ea"/>
              </a:rPr>
              <a:t>수</a:t>
            </a:r>
            <a:r>
              <a:rPr lang="en-US" altLang="ko-KR" sz="5000" b="1" kern="0" spc="-10" dirty="0">
                <a:solidFill>
                  <a:srgbClr val="FF0000"/>
                </a:solidFill>
                <a:effectLst/>
                <a:latin typeface="+mj-ea"/>
                <a:ea typeface="+mj-ea"/>
              </a:rPr>
              <a:t>) </a:t>
            </a:r>
            <a:r>
              <a:rPr lang="ko-KR" altLang="en-US" sz="5000" b="1" kern="0" spc="-10" dirty="0">
                <a:solidFill>
                  <a:srgbClr val="FF0000"/>
                </a:solidFill>
                <a:effectLst/>
                <a:latin typeface="+mj-ea"/>
                <a:ea typeface="+mj-ea"/>
              </a:rPr>
              <a:t>낮 </a:t>
            </a:r>
            <a:r>
              <a:rPr lang="en-US" altLang="ko-KR" sz="5000" b="1" kern="0" spc="-10" dirty="0">
                <a:solidFill>
                  <a:srgbClr val="FF0000"/>
                </a:solidFill>
                <a:effectLst/>
                <a:latin typeface="+mj-ea"/>
                <a:ea typeface="+mj-ea"/>
              </a:rPr>
              <a:t>12</a:t>
            </a:r>
            <a:r>
              <a:rPr lang="ko-KR" altLang="en-US" sz="5000" b="1" kern="0" spc="-10" dirty="0">
                <a:solidFill>
                  <a:srgbClr val="FF0000"/>
                </a:solidFill>
                <a:effectLst/>
                <a:latin typeface="+mj-ea"/>
                <a:ea typeface="+mj-ea"/>
              </a:rPr>
              <a:t>시</a:t>
            </a:r>
            <a:endParaRPr lang="ko-KR" altLang="en-US" sz="5000" kern="0" spc="0" dirty="0">
              <a:solidFill>
                <a:srgbClr val="000000"/>
              </a:solidFill>
              <a:effectLst/>
              <a:latin typeface="+mj-ea"/>
              <a:ea typeface="+mj-ea"/>
            </a:endParaRPr>
          </a:p>
          <a:p>
            <a:pPr marL="0" marR="0" indent="0" algn="just" fontAlgn="base" latinLnBrk="0">
              <a:lnSpc>
                <a:spcPct val="170000"/>
              </a:lnSpc>
              <a:spcBef>
                <a:spcPts val="0"/>
              </a:spcBef>
              <a:spcAft>
                <a:spcPts val="0"/>
              </a:spcAft>
              <a:buNone/>
            </a:pPr>
            <a:r>
              <a:rPr lang="en-US" altLang="ko-KR" sz="5000" kern="0" spc="-10" dirty="0">
                <a:solidFill>
                  <a:srgbClr val="000000"/>
                </a:solidFill>
                <a:effectLst/>
                <a:latin typeface="+mj-ea"/>
                <a:ea typeface="+mj-ea"/>
              </a:rPr>
              <a:t>2) </a:t>
            </a:r>
            <a:r>
              <a:rPr lang="ko-KR" altLang="en-US" sz="5000" kern="0" spc="-10" dirty="0">
                <a:solidFill>
                  <a:srgbClr val="000000"/>
                </a:solidFill>
                <a:effectLst/>
                <a:latin typeface="+mj-ea"/>
                <a:ea typeface="+mj-ea"/>
              </a:rPr>
              <a:t>제출내용</a:t>
            </a:r>
            <a:endParaRPr lang="ko-KR" altLang="en-US" sz="5000" kern="0" spc="0" dirty="0">
              <a:solidFill>
                <a:srgbClr val="000000"/>
              </a:solidFill>
              <a:effectLst/>
              <a:latin typeface="+mj-ea"/>
              <a:ea typeface="+mj-ea"/>
            </a:endParaRPr>
          </a:p>
          <a:p>
            <a:pPr marL="0" marR="0" indent="0" algn="just" fontAlgn="base" latinLnBrk="0">
              <a:lnSpc>
                <a:spcPct val="170000"/>
              </a:lnSpc>
              <a:spcBef>
                <a:spcPts val="0"/>
              </a:spcBef>
              <a:spcAft>
                <a:spcPts val="0"/>
              </a:spcAft>
              <a:buNone/>
            </a:pPr>
            <a:r>
              <a:rPr lang="en-US" altLang="ko-KR" sz="5000" kern="0" spc="-10" dirty="0">
                <a:solidFill>
                  <a:srgbClr val="000000"/>
                </a:solidFill>
                <a:effectLst/>
                <a:latin typeface="+mj-ea"/>
                <a:ea typeface="+mj-ea"/>
              </a:rPr>
              <a:t>- </a:t>
            </a:r>
            <a:r>
              <a:rPr lang="ko-KR" altLang="en-US" sz="5000" kern="0" spc="-10" dirty="0">
                <a:solidFill>
                  <a:srgbClr val="000000"/>
                </a:solidFill>
                <a:effectLst/>
                <a:latin typeface="+mj-ea"/>
                <a:ea typeface="+mj-ea"/>
              </a:rPr>
              <a:t>붙임 </a:t>
            </a:r>
            <a:r>
              <a:rPr lang="en-US" altLang="ko-KR" sz="5000" kern="0" spc="-10" dirty="0">
                <a:solidFill>
                  <a:srgbClr val="000000"/>
                </a:solidFill>
                <a:effectLst/>
                <a:latin typeface="+mj-ea"/>
                <a:ea typeface="+mj-ea"/>
              </a:rPr>
              <a:t>1. </a:t>
            </a:r>
            <a:r>
              <a:rPr lang="ko-KR" altLang="en-US" sz="5000" kern="0" spc="-10" dirty="0">
                <a:solidFill>
                  <a:srgbClr val="000000"/>
                </a:solidFill>
                <a:effectLst/>
                <a:latin typeface="+mj-ea"/>
                <a:ea typeface="+mj-ea"/>
              </a:rPr>
              <a:t>포스터발표 서약서 및 동의서</a:t>
            </a:r>
            <a:endParaRPr lang="ko-KR" altLang="en-US" sz="5000" kern="0" spc="0" dirty="0">
              <a:solidFill>
                <a:srgbClr val="000000"/>
              </a:solidFill>
              <a:effectLst/>
              <a:latin typeface="+mj-ea"/>
              <a:ea typeface="+mj-ea"/>
            </a:endParaRPr>
          </a:p>
          <a:p>
            <a:pPr marL="0" marR="0" indent="0" algn="just" fontAlgn="base" latinLnBrk="0">
              <a:lnSpc>
                <a:spcPct val="170000"/>
              </a:lnSpc>
              <a:spcBef>
                <a:spcPts val="0"/>
              </a:spcBef>
              <a:spcAft>
                <a:spcPts val="0"/>
              </a:spcAft>
              <a:buNone/>
            </a:pPr>
            <a:r>
              <a:rPr lang="en-US" altLang="ko-KR" sz="5000" kern="0" spc="-10" dirty="0">
                <a:solidFill>
                  <a:srgbClr val="000000"/>
                </a:solidFill>
                <a:effectLst/>
                <a:latin typeface="+mj-ea"/>
                <a:ea typeface="+mj-ea"/>
              </a:rPr>
              <a:t>- </a:t>
            </a:r>
            <a:r>
              <a:rPr lang="ko-KR" altLang="en-US" sz="5000" kern="0" spc="-10" dirty="0">
                <a:solidFill>
                  <a:srgbClr val="000000"/>
                </a:solidFill>
                <a:effectLst/>
                <a:latin typeface="+mj-ea"/>
                <a:ea typeface="+mj-ea"/>
              </a:rPr>
              <a:t>붙임 </a:t>
            </a:r>
            <a:r>
              <a:rPr lang="en-US" altLang="ko-KR" sz="5000" kern="0" spc="-10" dirty="0">
                <a:solidFill>
                  <a:srgbClr val="000000"/>
                </a:solidFill>
                <a:effectLst/>
                <a:latin typeface="+mj-ea"/>
                <a:ea typeface="+mj-ea"/>
              </a:rPr>
              <a:t>2. 2026 </a:t>
            </a:r>
            <a:r>
              <a:rPr lang="ko-KR" altLang="en-US" sz="5000" kern="0" spc="-10" dirty="0">
                <a:solidFill>
                  <a:srgbClr val="000000"/>
                </a:solidFill>
                <a:effectLst/>
                <a:latin typeface="+mj-ea"/>
                <a:ea typeface="+mj-ea"/>
              </a:rPr>
              <a:t>포스터논문</a:t>
            </a:r>
            <a:endParaRPr lang="ko-KR" altLang="en-US" sz="5000" kern="0" spc="0" dirty="0">
              <a:solidFill>
                <a:srgbClr val="000000"/>
              </a:solidFill>
              <a:effectLst/>
              <a:latin typeface="+mj-ea"/>
              <a:ea typeface="+mj-ea"/>
            </a:endParaRPr>
          </a:p>
          <a:p>
            <a:pPr marL="0" marR="0" indent="0" algn="just" fontAlgn="base" latinLnBrk="0">
              <a:lnSpc>
                <a:spcPct val="170000"/>
              </a:lnSpc>
              <a:spcBef>
                <a:spcPts val="0"/>
              </a:spcBef>
              <a:spcAft>
                <a:spcPts val="0"/>
              </a:spcAft>
              <a:buNone/>
            </a:pPr>
            <a:r>
              <a:rPr lang="en-US" altLang="ko-KR" sz="5000" kern="0" spc="-10" dirty="0">
                <a:solidFill>
                  <a:srgbClr val="000000"/>
                </a:solidFill>
                <a:effectLst/>
                <a:latin typeface="+mj-ea"/>
                <a:ea typeface="+mj-ea"/>
              </a:rPr>
              <a:t>3) </a:t>
            </a:r>
            <a:r>
              <a:rPr lang="ko-KR" altLang="en-US" sz="5000" kern="0" spc="-10" dirty="0">
                <a:solidFill>
                  <a:srgbClr val="000000"/>
                </a:solidFill>
                <a:effectLst/>
                <a:latin typeface="+mj-ea"/>
                <a:ea typeface="+mj-ea"/>
              </a:rPr>
              <a:t>붙임 </a:t>
            </a:r>
            <a:r>
              <a:rPr lang="en-US" altLang="ko-KR" sz="5000" kern="0" spc="-10" dirty="0">
                <a:solidFill>
                  <a:srgbClr val="000000"/>
                </a:solidFill>
                <a:effectLst/>
                <a:latin typeface="+mj-ea"/>
                <a:ea typeface="+mj-ea"/>
              </a:rPr>
              <a:t>2 </a:t>
            </a:r>
            <a:r>
              <a:rPr lang="ko-KR" altLang="en-US" sz="5000" kern="0" spc="-10" dirty="0">
                <a:solidFill>
                  <a:srgbClr val="000000"/>
                </a:solidFill>
                <a:effectLst/>
                <a:latin typeface="+mj-ea"/>
                <a:ea typeface="+mj-ea"/>
              </a:rPr>
              <a:t>포스터논문 </a:t>
            </a:r>
            <a:r>
              <a:rPr lang="en-US" altLang="ko-KR" sz="5000" kern="0" spc="-10" dirty="0">
                <a:solidFill>
                  <a:srgbClr val="000000"/>
                </a:solidFill>
                <a:effectLst/>
                <a:latin typeface="+mj-ea"/>
                <a:ea typeface="+mj-ea"/>
              </a:rPr>
              <a:t>ppt </a:t>
            </a:r>
            <a:r>
              <a:rPr lang="ko-KR" altLang="en-US" sz="5000" kern="0" spc="-10" dirty="0">
                <a:solidFill>
                  <a:srgbClr val="000000"/>
                </a:solidFill>
                <a:effectLst/>
                <a:latin typeface="+mj-ea"/>
                <a:ea typeface="+mj-ea"/>
              </a:rPr>
              <a:t>양식에 </a:t>
            </a:r>
            <a:r>
              <a:rPr lang="ko-KR" altLang="en-US" sz="5000" kern="0" spc="-10" dirty="0">
                <a:solidFill>
                  <a:srgbClr val="FF0000"/>
                </a:solidFill>
                <a:effectLst/>
                <a:latin typeface="+mj-ea"/>
                <a:ea typeface="+mj-ea"/>
              </a:rPr>
              <a:t>포스터논문을 </a:t>
            </a:r>
            <a:r>
              <a:rPr lang="en-US" altLang="ko-KR" sz="5000" kern="0" spc="-10" dirty="0">
                <a:solidFill>
                  <a:srgbClr val="FF0000"/>
                </a:solidFill>
                <a:effectLst/>
                <a:latin typeface="+mj-ea"/>
                <a:ea typeface="+mj-ea"/>
              </a:rPr>
              <a:t>1</a:t>
            </a:r>
            <a:r>
              <a:rPr lang="ko-KR" altLang="en-US" sz="5000" kern="0" spc="-10" dirty="0">
                <a:solidFill>
                  <a:srgbClr val="FF0000"/>
                </a:solidFill>
                <a:effectLst/>
                <a:latin typeface="+mj-ea"/>
                <a:ea typeface="+mj-ea"/>
              </a:rPr>
              <a:t>매로 작성하여</a:t>
            </a:r>
            <a:r>
              <a:rPr lang="en-US" altLang="ko-KR" sz="5000" kern="0" spc="-10" dirty="0">
                <a:solidFill>
                  <a:srgbClr val="000000"/>
                </a:solidFill>
                <a:effectLst/>
                <a:latin typeface="+mj-ea"/>
                <a:ea typeface="+mj-ea"/>
              </a:rPr>
              <a:t>, (</a:t>
            </a:r>
            <a:r>
              <a:rPr lang="ko-KR" altLang="en-US" sz="5000" kern="0" spc="-10" dirty="0">
                <a:solidFill>
                  <a:srgbClr val="000000"/>
                </a:solidFill>
                <a:effectLst/>
                <a:latin typeface="+mj-ea"/>
                <a:ea typeface="+mj-ea"/>
              </a:rPr>
              <a:t>학회 홈페이지 </a:t>
            </a:r>
            <a:r>
              <a:rPr lang="en-US" altLang="ko-KR" sz="5000" kern="0" spc="-10" dirty="0">
                <a:solidFill>
                  <a:srgbClr val="000000"/>
                </a:solidFill>
                <a:effectLst/>
                <a:latin typeface="+mj-ea"/>
                <a:ea typeface="+mj-ea"/>
              </a:rPr>
              <a:t>&gt; </a:t>
            </a:r>
            <a:r>
              <a:rPr lang="ko-KR" altLang="en-US" sz="5000" kern="0" spc="-10" dirty="0">
                <a:solidFill>
                  <a:srgbClr val="000000"/>
                </a:solidFill>
                <a:effectLst/>
                <a:latin typeface="+mj-ea"/>
                <a:ea typeface="+mj-ea"/>
              </a:rPr>
              <a:t>연차학술대회 </a:t>
            </a:r>
            <a:r>
              <a:rPr lang="en-US" altLang="ko-KR" sz="5000" kern="0" spc="-10" dirty="0">
                <a:solidFill>
                  <a:srgbClr val="000000"/>
                </a:solidFill>
                <a:effectLst/>
                <a:latin typeface="+mj-ea"/>
                <a:ea typeface="+mj-ea"/>
              </a:rPr>
              <a:t>&gt; </a:t>
            </a:r>
            <a:r>
              <a:rPr lang="ko-KR" altLang="en-US" sz="5000" kern="0" spc="-10" dirty="0">
                <a:solidFill>
                  <a:srgbClr val="000000"/>
                </a:solidFill>
                <a:effectLst/>
                <a:latin typeface="+mj-ea"/>
                <a:ea typeface="+mj-ea"/>
              </a:rPr>
              <a:t>논문발표</a:t>
            </a:r>
            <a:r>
              <a:rPr lang="en-US" altLang="ko-KR" sz="5000" kern="0" spc="-10" dirty="0">
                <a:solidFill>
                  <a:srgbClr val="000000"/>
                </a:solidFill>
                <a:effectLst/>
                <a:latin typeface="+mj-ea"/>
                <a:ea typeface="+mj-ea"/>
              </a:rPr>
              <a:t>(</a:t>
            </a:r>
            <a:r>
              <a:rPr lang="ko-KR" altLang="en-US" sz="5000" kern="0" spc="-10" dirty="0">
                <a:solidFill>
                  <a:srgbClr val="000000"/>
                </a:solidFill>
                <a:effectLst/>
                <a:latin typeface="+mj-ea"/>
                <a:ea typeface="+mj-ea"/>
              </a:rPr>
              <a:t>신청</a:t>
            </a:r>
            <a:r>
              <a:rPr lang="en-US" altLang="ko-KR" sz="5000" kern="0" spc="-10" dirty="0">
                <a:solidFill>
                  <a:srgbClr val="000000"/>
                </a:solidFill>
                <a:effectLst/>
                <a:latin typeface="+mj-ea"/>
                <a:ea typeface="+mj-ea"/>
              </a:rPr>
              <a:t>) &gt; </a:t>
            </a:r>
            <a:r>
              <a:rPr lang="ko-KR" altLang="en-US" sz="5000" kern="0" spc="-10" dirty="0">
                <a:solidFill>
                  <a:srgbClr val="000000"/>
                </a:solidFill>
                <a:effectLst/>
                <a:latin typeface="+mj-ea"/>
                <a:ea typeface="+mj-ea"/>
              </a:rPr>
              <a:t>최종자료 제출</a:t>
            </a:r>
            <a:r>
              <a:rPr lang="en-US" altLang="ko-KR" sz="5000" kern="0" spc="-10" dirty="0">
                <a:solidFill>
                  <a:srgbClr val="000000"/>
                </a:solidFill>
                <a:effectLst/>
                <a:latin typeface="+mj-ea"/>
                <a:ea typeface="+mj-ea"/>
              </a:rPr>
              <a:t>)</a:t>
            </a:r>
            <a:r>
              <a:rPr lang="ko-KR" altLang="en-US" sz="5000" kern="0" spc="-10" dirty="0">
                <a:solidFill>
                  <a:srgbClr val="000000"/>
                </a:solidFill>
                <a:effectLst/>
                <a:latin typeface="+mj-ea"/>
                <a:ea typeface="+mj-ea"/>
              </a:rPr>
              <a:t>에서 </a:t>
            </a:r>
            <a:r>
              <a:rPr lang="en-US" altLang="ko-KR" sz="5000" kern="0" spc="-10" dirty="0">
                <a:solidFill>
                  <a:srgbClr val="000000"/>
                </a:solidFill>
                <a:effectLst/>
                <a:latin typeface="+mj-ea"/>
                <a:ea typeface="+mj-ea"/>
              </a:rPr>
              <a:t>PDF </a:t>
            </a:r>
            <a:r>
              <a:rPr lang="ko-KR" altLang="en-US" sz="5000" kern="0" spc="-10" dirty="0">
                <a:solidFill>
                  <a:srgbClr val="000000"/>
                </a:solidFill>
                <a:effectLst/>
                <a:latin typeface="+mj-ea"/>
                <a:ea typeface="+mj-ea"/>
              </a:rPr>
              <a:t>파일 형태로 업로드 해주십시오</a:t>
            </a:r>
            <a:r>
              <a:rPr lang="en-US" altLang="ko-KR" sz="5000" kern="0" spc="-10" dirty="0">
                <a:solidFill>
                  <a:srgbClr val="000000"/>
                </a:solidFill>
                <a:effectLst/>
                <a:latin typeface="+mj-ea"/>
                <a:ea typeface="+mj-ea"/>
              </a:rPr>
              <a:t>.</a:t>
            </a:r>
            <a:endParaRPr lang="ko-KR" altLang="en-US" sz="5000" kern="0" spc="0" dirty="0">
              <a:solidFill>
                <a:srgbClr val="000000"/>
              </a:solidFill>
              <a:effectLst/>
              <a:latin typeface="+mj-ea"/>
              <a:ea typeface="+mj-ea"/>
            </a:endParaRPr>
          </a:p>
          <a:p>
            <a:pPr marL="0" marR="0" indent="0" algn="just" fontAlgn="base" latinLnBrk="0">
              <a:lnSpc>
                <a:spcPct val="170000"/>
              </a:lnSpc>
              <a:spcBef>
                <a:spcPts val="0"/>
              </a:spcBef>
              <a:spcAft>
                <a:spcPts val="0"/>
              </a:spcAft>
              <a:buNone/>
            </a:pPr>
            <a:r>
              <a:rPr lang="en-US" altLang="ko-KR" sz="5000" kern="0" spc="-10" dirty="0">
                <a:solidFill>
                  <a:srgbClr val="000000"/>
                </a:solidFill>
                <a:effectLst/>
                <a:latin typeface="+mj-ea"/>
                <a:ea typeface="+mj-ea"/>
              </a:rPr>
              <a:t>4) </a:t>
            </a:r>
            <a:r>
              <a:rPr lang="ko-KR" altLang="en-US" sz="5000" kern="0" spc="-10" dirty="0">
                <a:solidFill>
                  <a:srgbClr val="000000"/>
                </a:solidFill>
                <a:effectLst/>
                <a:latin typeface="+mj-ea"/>
                <a:ea typeface="+mj-ea"/>
              </a:rPr>
              <a:t>포스터발표 최종 합격자는</a:t>
            </a:r>
            <a:r>
              <a:rPr lang="en-US" altLang="ko-KR" sz="5000" kern="0" spc="-10" dirty="0">
                <a:solidFill>
                  <a:srgbClr val="000000"/>
                </a:solidFill>
                <a:effectLst/>
                <a:latin typeface="+mj-ea"/>
                <a:ea typeface="+mj-ea"/>
              </a:rPr>
              <a:t>, </a:t>
            </a:r>
            <a:r>
              <a:rPr lang="ko-KR" altLang="en-US" sz="5000" kern="0" spc="-10" dirty="0">
                <a:solidFill>
                  <a:srgbClr val="000000"/>
                </a:solidFill>
                <a:effectLst/>
                <a:latin typeface="+mj-ea"/>
                <a:ea typeface="+mj-ea"/>
              </a:rPr>
              <a:t>온라인</a:t>
            </a:r>
            <a:r>
              <a:rPr lang="en-US" altLang="ko-KR" sz="5000" kern="0" spc="-10" dirty="0">
                <a:solidFill>
                  <a:srgbClr val="000000"/>
                </a:solidFill>
                <a:effectLst/>
                <a:latin typeface="+mj-ea"/>
                <a:ea typeface="+mj-ea"/>
              </a:rPr>
              <a:t>/</a:t>
            </a:r>
            <a:r>
              <a:rPr lang="ko-KR" altLang="en-US" sz="5000" kern="0" spc="-10" dirty="0">
                <a:solidFill>
                  <a:srgbClr val="000000"/>
                </a:solidFill>
                <a:effectLst/>
                <a:latin typeface="+mj-ea"/>
                <a:ea typeface="+mj-ea"/>
              </a:rPr>
              <a:t>오프라인</a:t>
            </a:r>
            <a:r>
              <a:rPr lang="en-US" altLang="ko-KR" sz="5000" kern="0" spc="-10" dirty="0">
                <a:solidFill>
                  <a:srgbClr val="000000"/>
                </a:solidFill>
                <a:effectLst/>
                <a:latin typeface="+mj-ea"/>
                <a:ea typeface="+mj-ea"/>
              </a:rPr>
              <a:t>(</a:t>
            </a:r>
            <a:r>
              <a:rPr lang="ko-KR" altLang="en-US" sz="5000" kern="0" spc="-10" dirty="0">
                <a:solidFill>
                  <a:srgbClr val="000000"/>
                </a:solidFill>
                <a:effectLst/>
                <a:latin typeface="+mj-ea"/>
                <a:ea typeface="+mj-ea"/>
              </a:rPr>
              <a:t>오전</a:t>
            </a:r>
            <a:r>
              <a:rPr lang="en-US" altLang="ko-KR" sz="5000" kern="0" spc="-10" dirty="0">
                <a:solidFill>
                  <a:srgbClr val="000000"/>
                </a:solidFill>
                <a:effectLst/>
                <a:latin typeface="+mj-ea"/>
                <a:ea typeface="+mj-ea"/>
              </a:rPr>
              <a:t>,</a:t>
            </a:r>
            <a:r>
              <a:rPr lang="ko-KR" altLang="en-US" sz="5000" kern="0" spc="-10" dirty="0">
                <a:solidFill>
                  <a:srgbClr val="000000"/>
                </a:solidFill>
                <a:effectLst/>
                <a:latin typeface="+mj-ea"/>
                <a:ea typeface="+mj-ea"/>
              </a:rPr>
              <a:t>오후</a:t>
            </a:r>
            <a:r>
              <a:rPr lang="en-US" altLang="ko-KR" sz="5000" kern="0" spc="-10" dirty="0">
                <a:solidFill>
                  <a:srgbClr val="000000"/>
                </a:solidFill>
                <a:effectLst/>
                <a:latin typeface="+mj-ea"/>
                <a:ea typeface="+mj-ea"/>
              </a:rPr>
              <a:t>) </a:t>
            </a:r>
            <a:r>
              <a:rPr lang="ko-KR" altLang="en-US" sz="5000" kern="0" spc="-10" dirty="0">
                <a:solidFill>
                  <a:srgbClr val="000000"/>
                </a:solidFill>
                <a:effectLst/>
                <a:latin typeface="+mj-ea"/>
                <a:ea typeface="+mj-ea"/>
              </a:rPr>
              <a:t>발표에 관계없이 모두 </a:t>
            </a:r>
            <a:r>
              <a:rPr lang="en-US" altLang="ko-KR" sz="5000" kern="0" spc="-10" dirty="0">
                <a:solidFill>
                  <a:srgbClr val="000000"/>
                </a:solidFill>
                <a:effectLst/>
                <a:latin typeface="+mj-ea"/>
                <a:ea typeface="+mj-ea"/>
              </a:rPr>
              <a:t>PDF </a:t>
            </a:r>
            <a:r>
              <a:rPr lang="ko-KR" altLang="en-US" sz="5000" kern="0" spc="-10" dirty="0">
                <a:solidFill>
                  <a:srgbClr val="000000"/>
                </a:solidFill>
                <a:effectLst/>
                <a:latin typeface="+mj-ea"/>
                <a:ea typeface="+mj-ea"/>
              </a:rPr>
              <a:t>파일 형태의 최종 포스터논문을 제출해야 합니다</a:t>
            </a:r>
            <a:r>
              <a:rPr lang="en-US" altLang="ko-KR" sz="5000" kern="0" spc="-10" dirty="0">
                <a:solidFill>
                  <a:srgbClr val="000000"/>
                </a:solidFill>
                <a:effectLst/>
                <a:latin typeface="+mj-ea"/>
                <a:ea typeface="+mj-ea"/>
              </a:rPr>
              <a:t>. </a:t>
            </a:r>
            <a:endParaRPr lang="ko-KR" altLang="en-US" sz="5000" kern="0" spc="0" dirty="0">
              <a:solidFill>
                <a:srgbClr val="000000"/>
              </a:solidFill>
              <a:effectLst/>
              <a:latin typeface="+mj-ea"/>
              <a:ea typeface="+mj-ea"/>
            </a:endParaRPr>
          </a:p>
          <a:p>
            <a:pPr marL="0" marR="0" indent="0" algn="just" fontAlgn="base" latinLnBrk="0">
              <a:lnSpc>
                <a:spcPct val="170000"/>
              </a:lnSpc>
              <a:spcBef>
                <a:spcPts val="0"/>
              </a:spcBef>
              <a:spcAft>
                <a:spcPts val="0"/>
              </a:spcAft>
              <a:buNone/>
            </a:pPr>
            <a:r>
              <a:rPr lang="en-US" altLang="ko-KR" sz="5000" kern="0" spc="-10" dirty="0">
                <a:solidFill>
                  <a:srgbClr val="000000"/>
                </a:solidFill>
                <a:effectLst/>
                <a:latin typeface="+mj-ea"/>
                <a:ea typeface="+mj-ea"/>
              </a:rPr>
              <a:t>5) </a:t>
            </a:r>
            <a:r>
              <a:rPr lang="ko-KR" altLang="en-US" sz="5000" kern="0" spc="-10" dirty="0">
                <a:solidFill>
                  <a:srgbClr val="000000"/>
                </a:solidFill>
                <a:effectLst/>
                <a:latin typeface="+mj-ea"/>
                <a:ea typeface="+mj-ea"/>
              </a:rPr>
              <a:t>신청 시 작성한 포스터논문의 제목과 제출하시는 포스터의 제목은 동일해야 하며</a:t>
            </a:r>
            <a:r>
              <a:rPr lang="en-US" altLang="ko-KR" sz="5000" kern="0" spc="-10" dirty="0">
                <a:solidFill>
                  <a:srgbClr val="000000"/>
                </a:solidFill>
                <a:effectLst/>
                <a:latin typeface="+mj-ea"/>
                <a:ea typeface="+mj-ea"/>
              </a:rPr>
              <a:t>, </a:t>
            </a:r>
            <a:r>
              <a:rPr lang="ko-KR" altLang="en-US" sz="5000" kern="0" spc="-10" dirty="0">
                <a:solidFill>
                  <a:srgbClr val="000000"/>
                </a:solidFill>
                <a:effectLst/>
                <a:latin typeface="+mj-ea"/>
                <a:ea typeface="+mj-ea"/>
              </a:rPr>
              <a:t>제출 완료 이후에는 포스터 파일 변경이 불가합니다</a:t>
            </a:r>
            <a:r>
              <a:rPr lang="en-US" altLang="ko-KR" sz="5000" kern="0" spc="-10" dirty="0">
                <a:solidFill>
                  <a:srgbClr val="000000"/>
                </a:solidFill>
                <a:effectLst/>
                <a:latin typeface="+mj-ea"/>
                <a:ea typeface="+mj-ea"/>
              </a:rPr>
              <a:t>.</a:t>
            </a:r>
          </a:p>
          <a:p>
            <a:pPr marL="0" marR="0" indent="0" algn="just" fontAlgn="base" latinLnBrk="0">
              <a:lnSpc>
                <a:spcPct val="170000"/>
              </a:lnSpc>
              <a:spcBef>
                <a:spcPts val="0"/>
              </a:spcBef>
              <a:spcAft>
                <a:spcPts val="0"/>
              </a:spcAft>
              <a:buNone/>
            </a:pPr>
            <a:endParaRPr lang="en-US" altLang="ko-KR" sz="5000" kern="0" spc="-10" dirty="0">
              <a:solidFill>
                <a:srgbClr val="000000"/>
              </a:solidFill>
              <a:latin typeface="+mj-ea"/>
              <a:ea typeface="+mj-ea"/>
            </a:endParaRPr>
          </a:p>
          <a:p>
            <a:pPr marL="0" marR="0" lvl="0" indent="0" algn="just" fontAlgn="base" latinLnBrk="0">
              <a:lnSpc>
                <a:spcPct val="170000"/>
              </a:lnSpc>
              <a:spcBef>
                <a:spcPts val="0"/>
              </a:spcBef>
              <a:spcAft>
                <a:spcPts val="0"/>
              </a:spcAft>
              <a:buNone/>
            </a:pPr>
            <a:r>
              <a:rPr lang="en-US" altLang="ko-KR" sz="6600" b="1" kern="0" spc="-10" dirty="0">
                <a:solidFill>
                  <a:srgbClr val="000000"/>
                </a:solidFill>
                <a:effectLst/>
                <a:latin typeface="+mj-ea"/>
                <a:ea typeface="+mj-ea"/>
              </a:rPr>
              <a:t>2. </a:t>
            </a:r>
            <a:r>
              <a:rPr lang="ko-KR" altLang="en-US" sz="6600" b="1" kern="0" spc="-10" dirty="0">
                <a:solidFill>
                  <a:srgbClr val="000000"/>
                </a:solidFill>
                <a:effectLst/>
                <a:latin typeface="+mj-ea"/>
                <a:ea typeface="+mj-ea"/>
              </a:rPr>
              <a:t>포스터논문 발표 안내</a:t>
            </a:r>
            <a:r>
              <a:rPr lang="en-US" altLang="ko-KR" sz="6600" b="1" kern="0" spc="-10" dirty="0">
                <a:solidFill>
                  <a:srgbClr val="000000"/>
                </a:solidFill>
                <a:effectLst/>
                <a:latin typeface="+mj-ea"/>
                <a:ea typeface="+mj-ea"/>
              </a:rPr>
              <a:t>(2026.07.04.(</a:t>
            </a:r>
            <a:r>
              <a:rPr lang="ko-KR" altLang="en-US" sz="6600" b="1" kern="0" spc="-10" dirty="0">
                <a:solidFill>
                  <a:srgbClr val="000000"/>
                </a:solidFill>
                <a:effectLst/>
                <a:latin typeface="+mj-ea"/>
                <a:ea typeface="+mj-ea"/>
              </a:rPr>
              <a:t>토</a:t>
            </a:r>
            <a:r>
              <a:rPr lang="en-US" altLang="ko-KR" sz="6600" b="1" kern="0" spc="-10" dirty="0">
                <a:solidFill>
                  <a:srgbClr val="000000"/>
                </a:solidFill>
                <a:effectLst/>
                <a:latin typeface="+mj-ea"/>
                <a:ea typeface="+mj-ea"/>
              </a:rPr>
              <a:t>) </a:t>
            </a:r>
            <a:r>
              <a:rPr lang="ko-KR" altLang="en-US" sz="6600" b="1" kern="0" spc="-10" dirty="0">
                <a:solidFill>
                  <a:srgbClr val="000000"/>
                </a:solidFill>
                <a:effectLst/>
                <a:latin typeface="+mj-ea"/>
                <a:ea typeface="+mj-ea"/>
              </a:rPr>
              <a:t>당일</a:t>
            </a:r>
            <a:r>
              <a:rPr lang="en-US" altLang="ko-KR" sz="6600" b="1" kern="0" spc="-10" dirty="0">
                <a:solidFill>
                  <a:srgbClr val="000000"/>
                </a:solidFill>
                <a:effectLst/>
                <a:latin typeface="+mj-ea"/>
                <a:ea typeface="+mj-ea"/>
              </a:rPr>
              <a:t>)</a:t>
            </a:r>
            <a:endParaRPr lang="ko-KR" altLang="en-US" sz="6600" kern="0" spc="0" dirty="0">
              <a:solidFill>
                <a:srgbClr val="000000"/>
              </a:solidFill>
              <a:effectLst/>
              <a:latin typeface="+mj-ea"/>
              <a:ea typeface="+mj-ea"/>
            </a:endParaRPr>
          </a:p>
          <a:p>
            <a:pPr marL="0" marR="0" indent="0" algn="just" fontAlgn="base" latinLnBrk="0">
              <a:lnSpc>
                <a:spcPct val="170000"/>
              </a:lnSpc>
              <a:spcBef>
                <a:spcPts val="0"/>
              </a:spcBef>
              <a:spcAft>
                <a:spcPts val="0"/>
              </a:spcAft>
              <a:buNone/>
            </a:pPr>
            <a:r>
              <a:rPr lang="en-US" altLang="ko-KR" sz="5000" kern="0" spc="-10" dirty="0">
                <a:solidFill>
                  <a:srgbClr val="000000"/>
                </a:solidFill>
                <a:effectLst/>
                <a:latin typeface="+mj-ea"/>
                <a:ea typeface="+mj-ea"/>
              </a:rPr>
              <a:t>1) </a:t>
            </a:r>
            <a:r>
              <a:rPr lang="ko-KR" altLang="en-US" sz="5000" kern="0" spc="-10" dirty="0">
                <a:solidFill>
                  <a:srgbClr val="000000"/>
                </a:solidFill>
                <a:effectLst/>
                <a:latin typeface="+mj-ea"/>
                <a:ea typeface="+mj-ea"/>
              </a:rPr>
              <a:t>발표자는 포스터발표장인 </a:t>
            </a:r>
            <a:r>
              <a:rPr lang="en-US" altLang="ko-KR" sz="5000" kern="0" spc="-10" dirty="0">
                <a:solidFill>
                  <a:srgbClr val="000000"/>
                </a:solidFill>
                <a:effectLst/>
                <a:latin typeface="+mj-ea"/>
                <a:ea typeface="+mj-ea"/>
              </a:rPr>
              <a:t>'</a:t>
            </a:r>
            <a:r>
              <a:rPr lang="ko-KR" altLang="en-US" sz="5000" kern="0" spc="-10" dirty="0">
                <a:solidFill>
                  <a:srgbClr val="000000"/>
                </a:solidFill>
                <a:effectLst/>
                <a:latin typeface="+mj-ea"/>
                <a:ea typeface="+mj-ea"/>
              </a:rPr>
              <a:t>성신미술관</a:t>
            </a:r>
            <a:r>
              <a:rPr lang="en-US" altLang="ko-KR" sz="5000" kern="0" spc="-10" dirty="0">
                <a:solidFill>
                  <a:srgbClr val="000000"/>
                </a:solidFill>
                <a:effectLst/>
                <a:latin typeface="+mj-ea"/>
                <a:ea typeface="+mj-ea"/>
              </a:rPr>
              <a:t>'</a:t>
            </a:r>
            <a:r>
              <a:rPr lang="ko-KR" altLang="en-US" sz="5000" kern="0" spc="-10" dirty="0">
                <a:solidFill>
                  <a:srgbClr val="000000"/>
                </a:solidFill>
                <a:effectLst/>
                <a:latin typeface="+mj-ea"/>
                <a:ea typeface="+mj-ea"/>
              </a:rPr>
              <a:t>에 직접 포스터를 출력</a:t>
            </a:r>
            <a:r>
              <a:rPr lang="en-US" altLang="ko-KR" sz="5000" kern="0" spc="-10" dirty="0">
                <a:solidFill>
                  <a:srgbClr val="000000"/>
                </a:solidFill>
                <a:effectLst/>
                <a:latin typeface="+mj-ea"/>
                <a:ea typeface="+mj-ea"/>
              </a:rPr>
              <a:t>, </a:t>
            </a:r>
            <a:r>
              <a:rPr lang="ko-KR" altLang="en-US" sz="5000" kern="0" spc="-10" dirty="0">
                <a:solidFill>
                  <a:srgbClr val="000000"/>
                </a:solidFill>
                <a:effectLst/>
                <a:latin typeface="+mj-ea"/>
                <a:ea typeface="+mj-ea"/>
              </a:rPr>
              <a:t>부착</a:t>
            </a:r>
            <a:r>
              <a:rPr lang="en-US" altLang="ko-KR" sz="5000" kern="0" spc="-10" dirty="0">
                <a:solidFill>
                  <a:srgbClr val="000000"/>
                </a:solidFill>
                <a:effectLst/>
                <a:latin typeface="+mj-ea"/>
                <a:ea typeface="+mj-ea"/>
              </a:rPr>
              <a:t>, </a:t>
            </a:r>
            <a:r>
              <a:rPr lang="ko-KR" altLang="en-US" sz="5000" kern="0" spc="-10" dirty="0">
                <a:solidFill>
                  <a:srgbClr val="000000"/>
                </a:solidFill>
                <a:effectLst/>
                <a:latin typeface="+mj-ea"/>
                <a:ea typeface="+mj-ea"/>
              </a:rPr>
              <a:t>철거하셔야 합니다</a:t>
            </a:r>
            <a:r>
              <a:rPr lang="en-US" altLang="ko-KR" sz="5000" kern="0" spc="-10" dirty="0">
                <a:solidFill>
                  <a:srgbClr val="000000"/>
                </a:solidFill>
                <a:effectLst/>
                <a:latin typeface="+mj-ea"/>
                <a:ea typeface="+mj-ea"/>
              </a:rPr>
              <a:t>.</a:t>
            </a:r>
            <a:endParaRPr lang="ko-KR" altLang="en-US" sz="5000" kern="0" spc="0" dirty="0">
              <a:solidFill>
                <a:srgbClr val="000000"/>
              </a:solidFill>
              <a:effectLst/>
              <a:latin typeface="+mj-ea"/>
              <a:ea typeface="+mj-ea"/>
            </a:endParaRPr>
          </a:p>
          <a:p>
            <a:pPr marL="0" marR="0" lvl="0" indent="0" algn="just" fontAlgn="base" latinLnBrk="0">
              <a:lnSpc>
                <a:spcPct val="170000"/>
              </a:lnSpc>
              <a:spcBef>
                <a:spcPts val="0"/>
              </a:spcBef>
              <a:spcAft>
                <a:spcPts val="0"/>
              </a:spcAft>
              <a:buNone/>
            </a:pPr>
            <a:r>
              <a:rPr lang="en-US" altLang="ko-KR" sz="5000" kern="0" spc="-10" dirty="0">
                <a:solidFill>
                  <a:srgbClr val="000000"/>
                </a:solidFill>
                <a:latin typeface="+mj-ea"/>
                <a:ea typeface="+mj-ea"/>
              </a:rPr>
              <a:t>-</a:t>
            </a:r>
            <a:r>
              <a:rPr lang="ko-KR" altLang="en-US" sz="5000" kern="0" spc="-10" dirty="0">
                <a:solidFill>
                  <a:srgbClr val="000000"/>
                </a:solidFill>
                <a:latin typeface="+mj-ea"/>
                <a:ea typeface="+mj-ea"/>
              </a:rPr>
              <a:t> </a:t>
            </a:r>
            <a:r>
              <a:rPr lang="ko-KR" altLang="en-US" sz="5000" kern="0" spc="-10" dirty="0">
                <a:solidFill>
                  <a:srgbClr val="000000"/>
                </a:solidFill>
                <a:effectLst/>
                <a:latin typeface="+mj-ea"/>
                <a:ea typeface="+mj-ea"/>
              </a:rPr>
              <a:t>제작</a:t>
            </a:r>
            <a:r>
              <a:rPr lang="en-US" altLang="ko-KR" sz="5000" kern="0" spc="-10" dirty="0">
                <a:solidFill>
                  <a:srgbClr val="000000"/>
                </a:solidFill>
                <a:effectLst/>
                <a:latin typeface="+mj-ea"/>
                <a:ea typeface="+mj-ea"/>
              </a:rPr>
              <a:t>: </a:t>
            </a:r>
            <a:r>
              <a:rPr lang="ko-KR" altLang="en-US" sz="5000" kern="0" spc="-10" dirty="0">
                <a:solidFill>
                  <a:srgbClr val="000000"/>
                </a:solidFill>
                <a:effectLst/>
                <a:latin typeface="+mj-ea"/>
                <a:ea typeface="+mj-ea"/>
              </a:rPr>
              <a:t>제출한 </a:t>
            </a:r>
            <a:r>
              <a:rPr lang="en-US" altLang="ko-KR" sz="5000" kern="0" spc="-10" dirty="0">
                <a:solidFill>
                  <a:srgbClr val="000000"/>
                </a:solidFill>
                <a:effectLst/>
                <a:latin typeface="+mj-ea"/>
                <a:ea typeface="+mj-ea"/>
              </a:rPr>
              <a:t>PDF </a:t>
            </a:r>
            <a:r>
              <a:rPr lang="ko-KR" altLang="en-US" sz="5000" kern="0" spc="-10" dirty="0">
                <a:solidFill>
                  <a:srgbClr val="000000"/>
                </a:solidFill>
                <a:effectLst/>
                <a:latin typeface="+mj-ea"/>
                <a:ea typeface="+mj-ea"/>
              </a:rPr>
              <a:t>파일을 </a:t>
            </a:r>
            <a:r>
              <a:rPr lang="en-US" altLang="ko-KR" sz="5000" kern="0" spc="-10" dirty="0">
                <a:solidFill>
                  <a:srgbClr val="000000"/>
                </a:solidFill>
                <a:effectLst/>
                <a:latin typeface="+mj-ea"/>
                <a:ea typeface="+mj-ea"/>
              </a:rPr>
              <a:t>A0 </a:t>
            </a:r>
            <a:r>
              <a:rPr lang="ko-KR" altLang="en-US" sz="5000" kern="0" spc="-10" dirty="0">
                <a:solidFill>
                  <a:srgbClr val="000000"/>
                </a:solidFill>
                <a:effectLst/>
                <a:latin typeface="+mj-ea"/>
                <a:ea typeface="+mj-ea"/>
              </a:rPr>
              <a:t>사이즈의 종이</a:t>
            </a:r>
            <a:r>
              <a:rPr lang="en-US" altLang="ko-KR" sz="5000" kern="0" spc="-10" dirty="0">
                <a:solidFill>
                  <a:srgbClr val="000000"/>
                </a:solidFill>
                <a:effectLst/>
                <a:latin typeface="+mj-ea"/>
                <a:ea typeface="+mj-ea"/>
              </a:rPr>
              <a:t>, </a:t>
            </a:r>
            <a:r>
              <a:rPr lang="ko-KR" altLang="en-US" sz="5000" kern="0" spc="-10" dirty="0">
                <a:solidFill>
                  <a:srgbClr val="000000"/>
                </a:solidFill>
                <a:effectLst/>
                <a:latin typeface="+mj-ea"/>
                <a:ea typeface="+mj-ea"/>
              </a:rPr>
              <a:t>현수막 재질 등으로 직접 출력 </a:t>
            </a:r>
            <a:r>
              <a:rPr lang="en-US" altLang="ko-KR" sz="5000" kern="0" spc="-10" dirty="0">
                <a:solidFill>
                  <a:srgbClr val="000000"/>
                </a:solidFill>
                <a:effectLst/>
                <a:latin typeface="+mj-ea"/>
                <a:ea typeface="+mj-ea"/>
              </a:rPr>
              <a:t>(</a:t>
            </a:r>
            <a:r>
              <a:rPr lang="ko-KR" altLang="en-US" sz="5000" kern="0" spc="-10" dirty="0">
                <a:solidFill>
                  <a:srgbClr val="000000"/>
                </a:solidFill>
                <a:effectLst/>
                <a:latin typeface="+mj-ea"/>
                <a:ea typeface="+mj-ea"/>
              </a:rPr>
              <a:t>종이로  </a:t>
            </a:r>
            <a:endParaRPr lang="en-US" altLang="ko-KR" sz="5000" kern="0" spc="-10" dirty="0">
              <a:solidFill>
                <a:srgbClr val="000000"/>
              </a:solidFill>
              <a:effectLst/>
              <a:latin typeface="+mj-ea"/>
              <a:ea typeface="+mj-ea"/>
            </a:endParaRPr>
          </a:p>
          <a:p>
            <a:pPr marL="0" marR="0" lvl="0" indent="0" algn="just" fontAlgn="base" latinLnBrk="0">
              <a:lnSpc>
                <a:spcPct val="170000"/>
              </a:lnSpc>
              <a:spcBef>
                <a:spcPts val="0"/>
              </a:spcBef>
              <a:spcAft>
                <a:spcPts val="0"/>
              </a:spcAft>
              <a:buNone/>
            </a:pPr>
            <a:r>
              <a:rPr lang="en-US" altLang="ko-KR" sz="5000" kern="0" spc="-10" dirty="0">
                <a:solidFill>
                  <a:srgbClr val="000000"/>
                </a:solidFill>
                <a:latin typeface="+mj-ea"/>
                <a:ea typeface="+mj-ea"/>
              </a:rPr>
              <a:t>  </a:t>
            </a:r>
            <a:r>
              <a:rPr lang="ko-KR" altLang="en-US" sz="5000" kern="0" spc="-10" dirty="0">
                <a:solidFill>
                  <a:srgbClr val="000000"/>
                </a:solidFill>
                <a:effectLst/>
                <a:latin typeface="+mj-ea"/>
                <a:ea typeface="+mj-ea"/>
              </a:rPr>
              <a:t>제작하시는 경우</a:t>
            </a:r>
            <a:r>
              <a:rPr lang="en-US" altLang="ko-KR" sz="5000" kern="0" spc="-10" dirty="0">
                <a:solidFill>
                  <a:srgbClr val="000000"/>
                </a:solidFill>
                <a:effectLst/>
                <a:latin typeface="+mj-ea"/>
                <a:ea typeface="+mj-ea"/>
              </a:rPr>
              <a:t>, </a:t>
            </a:r>
            <a:r>
              <a:rPr lang="ko-KR" altLang="en-US" sz="5000" kern="0" spc="-10" dirty="0">
                <a:solidFill>
                  <a:srgbClr val="000000"/>
                </a:solidFill>
                <a:effectLst/>
                <a:latin typeface="+mj-ea"/>
                <a:ea typeface="+mj-ea"/>
              </a:rPr>
              <a:t>부착도구로 인한 손상이 있을 수 있습니다</a:t>
            </a:r>
            <a:r>
              <a:rPr lang="en-US" altLang="ko-KR" sz="5000" kern="0" spc="-10" dirty="0">
                <a:solidFill>
                  <a:srgbClr val="000000"/>
                </a:solidFill>
                <a:effectLst/>
                <a:latin typeface="+mj-ea"/>
                <a:ea typeface="+mj-ea"/>
              </a:rPr>
              <a:t>.)</a:t>
            </a:r>
            <a:endParaRPr lang="ko-KR" altLang="en-US" sz="5000" kern="0" spc="0" dirty="0">
              <a:solidFill>
                <a:srgbClr val="000000"/>
              </a:solidFill>
              <a:effectLst/>
              <a:latin typeface="+mj-ea"/>
              <a:ea typeface="+mj-ea"/>
            </a:endParaRPr>
          </a:p>
          <a:p>
            <a:pPr marL="0" marR="0" indent="0" algn="just" fontAlgn="base" latinLnBrk="0">
              <a:lnSpc>
                <a:spcPct val="170000"/>
              </a:lnSpc>
              <a:spcBef>
                <a:spcPts val="0"/>
              </a:spcBef>
              <a:spcAft>
                <a:spcPts val="0"/>
              </a:spcAft>
              <a:buNone/>
            </a:pPr>
            <a:r>
              <a:rPr lang="en-US" altLang="ko-KR" sz="5000" kern="0" spc="-10" dirty="0">
                <a:solidFill>
                  <a:srgbClr val="000000"/>
                </a:solidFill>
                <a:effectLst/>
                <a:latin typeface="+mj-ea"/>
                <a:ea typeface="+mj-ea"/>
              </a:rPr>
              <a:t>-</a:t>
            </a:r>
            <a:r>
              <a:rPr lang="ko-KR" altLang="en-US" sz="5000" kern="0" spc="-10" dirty="0">
                <a:solidFill>
                  <a:srgbClr val="000000"/>
                </a:solidFill>
                <a:effectLst/>
                <a:latin typeface="+mj-ea"/>
                <a:ea typeface="+mj-ea"/>
              </a:rPr>
              <a:t>부착</a:t>
            </a:r>
            <a:r>
              <a:rPr lang="en-US" altLang="ko-KR" sz="5000" kern="0" spc="-10" dirty="0">
                <a:solidFill>
                  <a:srgbClr val="000000"/>
                </a:solidFill>
                <a:effectLst/>
                <a:latin typeface="+mj-ea"/>
                <a:ea typeface="+mj-ea"/>
              </a:rPr>
              <a:t>: 7</a:t>
            </a:r>
            <a:r>
              <a:rPr lang="ko-KR" altLang="en-US" sz="5000" kern="0" spc="-10" dirty="0">
                <a:solidFill>
                  <a:srgbClr val="000000"/>
                </a:solidFill>
                <a:effectLst/>
                <a:latin typeface="+mj-ea"/>
                <a:ea typeface="+mj-ea"/>
              </a:rPr>
              <a:t>월 </a:t>
            </a:r>
            <a:r>
              <a:rPr lang="en-US" altLang="ko-KR" sz="5000" kern="0" spc="-10" dirty="0">
                <a:solidFill>
                  <a:srgbClr val="000000"/>
                </a:solidFill>
                <a:effectLst/>
                <a:latin typeface="+mj-ea"/>
                <a:ea typeface="+mj-ea"/>
              </a:rPr>
              <a:t>4</a:t>
            </a:r>
            <a:r>
              <a:rPr lang="ko-KR" altLang="en-US" sz="5000" kern="0" spc="-10" dirty="0">
                <a:solidFill>
                  <a:srgbClr val="000000"/>
                </a:solidFill>
                <a:effectLst/>
                <a:latin typeface="+mj-ea"/>
                <a:ea typeface="+mj-ea"/>
              </a:rPr>
              <a:t>일</a:t>
            </a:r>
            <a:r>
              <a:rPr lang="en-US" altLang="ko-KR" sz="5000" kern="0" spc="-10" dirty="0">
                <a:solidFill>
                  <a:srgbClr val="000000"/>
                </a:solidFill>
                <a:effectLst/>
                <a:latin typeface="+mj-ea"/>
                <a:ea typeface="+mj-ea"/>
              </a:rPr>
              <a:t>(</a:t>
            </a:r>
            <a:r>
              <a:rPr lang="ko-KR" altLang="en-US" sz="5000" kern="0" spc="-10" dirty="0">
                <a:solidFill>
                  <a:srgbClr val="000000"/>
                </a:solidFill>
                <a:effectLst/>
                <a:latin typeface="+mj-ea"/>
                <a:ea typeface="+mj-ea"/>
              </a:rPr>
              <a:t>토</a:t>
            </a:r>
            <a:r>
              <a:rPr lang="en-US" altLang="ko-KR" sz="5000" kern="0" spc="-10" dirty="0">
                <a:solidFill>
                  <a:srgbClr val="000000"/>
                </a:solidFill>
                <a:effectLst/>
                <a:latin typeface="+mj-ea"/>
                <a:ea typeface="+mj-ea"/>
              </a:rPr>
              <a:t>) 08:30~10:00 </a:t>
            </a:r>
            <a:r>
              <a:rPr lang="ko-KR" altLang="en-US" sz="5000" kern="0" spc="-10" dirty="0">
                <a:solidFill>
                  <a:srgbClr val="000000"/>
                </a:solidFill>
                <a:effectLst/>
                <a:latin typeface="+mj-ea"/>
                <a:ea typeface="+mj-ea"/>
              </a:rPr>
              <a:t>성신여자대학교 운정그린캠퍼스 성신미술관</a:t>
            </a:r>
            <a:endParaRPr lang="ko-KR" altLang="en-US" sz="5000" kern="0" spc="0" dirty="0">
              <a:solidFill>
                <a:srgbClr val="000000"/>
              </a:solidFill>
              <a:effectLst/>
              <a:latin typeface="+mj-ea"/>
              <a:ea typeface="+mj-ea"/>
            </a:endParaRPr>
          </a:p>
          <a:p>
            <a:pPr marL="381000" marR="0" indent="0" algn="just" fontAlgn="base" latinLnBrk="0">
              <a:lnSpc>
                <a:spcPct val="170000"/>
              </a:lnSpc>
              <a:spcBef>
                <a:spcPts val="0"/>
              </a:spcBef>
              <a:spcAft>
                <a:spcPts val="0"/>
              </a:spcAft>
              <a:buNone/>
            </a:pPr>
            <a:r>
              <a:rPr lang="en-US" altLang="ko-KR" sz="5000" kern="0" spc="-10" dirty="0">
                <a:solidFill>
                  <a:srgbClr val="000000"/>
                </a:solidFill>
                <a:effectLst/>
                <a:latin typeface="+mj-ea"/>
                <a:ea typeface="+mj-ea"/>
              </a:rPr>
              <a:t>(</a:t>
            </a:r>
            <a:r>
              <a:rPr lang="ko-KR" altLang="en-US" sz="5000" kern="0" spc="-10" dirty="0">
                <a:solidFill>
                  <a:srgbClr val="000000"/>
                </a:solidFill>
                <a:effectLst/>
                <a:latin typeface="+mj-ea"/>
                <a:ea typeface="+mj-ea"/>
              </a:rPr>
              <a:t>부착도구</a:t>
            </a:r>
            <a:r>
              <a:rPr lang="en-US" altLang="ko-KR" sz="5000" kern="0" spc="-10" dirty="0">
                <a:solidFill>
                  <a:srgbClr val="000000"/>
                </a:solidFill>
                <a:effectLst/>
                <a:latin typeface="+mj-ea"/>
                <a:ea typeface="+mj-ea"/>
              </a:rPr>
              <a:t>: </a:t>
            </a:r>
            <a:r>
              <a:rPr lang="ko-KR" altLang="en-US" sz="5000" kern="0" spc="-10" dirty="0">
                <a:solidFill>
                  <a:srgbClr val="000000"/>
                </a:solidFill>
                <a:effectLst/>
                <a:latin typeface="+mj-ea"/>
                <a:ea typeface="+mj-ea"/>
              </a:rPr>
              <a:t>스카치테이프</a:t>
            </a:r>
            <a:r>
              <a:rPr lang="en-US" altLang="ko-KR" sz="5000" kern="0" spc="-10" dirty="0">
                <a:solidFill>
                  <a:srgbClr val="000000"/>
                </a:solidFill>
                <a:effectLst/>
                <a:latin typeface="+mj-ea"/>
                <a:ea typeface="+mj-ea"/>
              </a:rPr>
              <a:t>, </a:t>
            </a:r>
            <a:r>
              <a:rPr lang="ko-KR" altLang="en-US" sz="5000" kern="0" spc="-10" dirty="0">
                <a:solidFill>
                  <a:srgbClr val="000000"/>
                </a:solidFill>
                <a:effectLst/>
                <a:latin typeface="+mj-ea"/>
                <a:ea typeface="+mj-ea"/>
              </a:rPr>
              <a:t>겔테이프 등 출력물 재질에 따라 개인 지참하여야 하며</a:t>
            </a:r>
            <a:r>
              <a:rPr lang="en-US" altLang="ko-KR" sz="5000" kern="0" spc="-10" dirty="0">
                <a:solidFill>
                  <a:srgbClr val="000000"/>
                </a:solidFill>
                <a:effectLst/>
                <a:latin typeface="+mj-ea"/>
                <a:ea typeface="+mj-ea"/>
              </a:rPr>
              <a:t>, </a:t>
            </a:r>
            <a:r>
              <a:rPr lang="ko-KR" altLang="en-US" sz="5000" kern="0" spc="-10" dirty="0" err="1">
                <a:solidFill>
                  <a:srgbClr val="000000"/>
                </a:solidFill>
                <a:effectLst/>
                <a:latin typeface="+mj-ea"/>
                <a:ea typeface="+mj-ea"/>
              </a:rPr>
              <a:t>스테이플러</a:t>
            </a:r>
            <a:r>
              <a:rPr lang="en-US" altLang="ko-KR" sz="5000" kern="0" spc="-10" dirty="0">
                <a:solidFill>
                  <a:srgbClr val="000000"/>
                </a:solidFill>
                <a:effectLst/>
                <a:latin typeface="+mj-ea"/>
                <a:ea typeface="+mj-ea"/>
              </a:rPr>
              <a:t>, </a:t>
            </a:r>
            <a:r>
              <a:rPr lang="ko-KR" altLang="en-US" sz="5000" kern="0" spc="-10" dirty="0">
                <a:solidFill>
                  <a:srgbClr val="000000"/>
                </a:solidFill>
                <a:effectLst/>
                <a:latin typeface="+mj-ea"/>
                <a:ea typeface="+mj-ea"/>
              </a:rPr>
              <a:t>압정</a:t>
            </a:r>
            <a:r>
              <a:rPr lang="en-US" altLang="ko-KR" sz="5000" kern="0" spc="-10" dirty="0">
                <a:solidFill>
                  <a:srgbClr val="000000"/>
                </a:solidFill>
                <a:effectLst/>
                <a:latin typeface="+mj-ea"/>
                <a:ea typeface="+mj-ea"/>
              </a:rPr>
              <a:t>, </a:t>
            </a:r>
            <a:r>
              <a:rPr lang="ko-KR" altLang="en-US" sz="5000" kern="0" spc="-10" dirty="0">
                <a:solidFill>
                  <a:srgbClr val="000000"/>
                </a:solidFill>
                <a:effectLst/>
                <a:latin typeface="+mj-ea"/>
                <a:ea typeface="+mj-ea"/>
              </a:rPr>
              <a:t>핀 등을 통한 부착은 불가능합니다</a:t>
            </a:r>
            <a:r>
              <a:rPr lang="en-US" altLang="ko-KR" sz="5000" kern="0" spc="-10" dirty="0">
                <a:solidFill>
                  <a:srgbClr val="000000"/>
                </a:solidFill>
                <a:effectLst/>
                <a:latin typeface="+mj-ea"/>
                <a:ea typeface="+mj-ea"/>
              </a:rPr>
              <a:t>.)</a:t>
            </a:r>
            <a:endParaRPr lang="ko-KR" altLang="en-US" sz="5000" kern="0" spc="0" dirty="0">
              <a:solidFill>
                <a:srgbClr val="000000"/>
              </a:solidFill>
              <a:effectLst/>
              <a:latin typeface="+mj-ea"/>
              <a:ea typeface="+mj-ea"/>
            </a:endParaRPr>
          </a:p>
          <a:p>
            <a:pPr marL="0" marR="0" indent="0" algn="just" fontAlgn="base" latinLnBrk="0">
              <a:lnSpc>
                <a:spcPct val="170000"/>
              </a:lnSpc>
              <a:spcBef>
                <a:spcPts val="0"/>
              </a:spcBef>
              <a:spcAft>
                <a:spcPts val="0"/>
              </a:spcAft>
              <a:buNone/>
            </a:pPr>
            <a:r>
              <a:rPr lang="en-US" altLang="ko-KR" sz="5000" kern="0" spc="-10" dirty="0">
                <a:solidFill>
                  <a:srgbClr val="000000"/>
                </a:solidFill>
                <a:effectLst/>
                <a:latin typeface="+mj-ea"/>
                <a:ea typeface="+mj-ea"/>
              </a:rPr>
              <a:t>- </a:t>
            </a:r>
            <a:r>
              <a:rPr lang="ko-KR" altLang="en-US" sz="5000" kern="0" spc="-10" dirty="0">
                <a:solidFill>
                  <a:srgbClr val="000000"/>
                </a:solidFill>
                <a:effectLst/>
                <a:latin typeface="+mj-ea"/>
                <a:ea typeface="+mj-ea"/>
              </a:rPr>
              <a:t>발표</a:t>
            </a:r>
            <a:r>
              <a:rPr lang="en-US" altLang="ko-KR" sz="5000" kern="0" spc="-10" dirty="0">
                <a:solidFill>
                  <a:srgbClr val="000000"/>
                </a:solidFill>
                <a:effectLst/>
                <a:latin typeface="+mj-ea"/>
                <a:ea typeface="+mj-ea"/>
              </a:rPr>
              <a:t>: </a:t>
            </a:r>
            <a:r>
              <a:rPr lang="ko-KR" altLang="en-US" sz="5000" kern="0" spc="-10" dirty="0">
                <a:solidFill>
                  <a:srgbClr val="000000"/>
                </a:solidFill>
                <a:effectLst/>
                <a:latin typeface="+mj-ea"/>
                <a:ea typeface="+mj-ea"/>
              </a:rPr>
              <a:t>오전</a:t>
            </a:r>
            <a:r>
              <a:rPr lang="en-US" altLang="ko-KR" sz="5000" kern="0" spc="-10" dirty="0">
                <a:solidFill>
                  <a:srgbClr val="000000"/>
                </a:solidFill>
                <a:effectLst/>
                <a:latin typeface="+mj-ea"/>
                <a:ea typeface="+mj-ea"/>
              </a:rPr>
              <a:t>(10:00~12:00) </a:t>
            </a:r>
            <a:r>
              <a:rPr lang="ko-KR" altLang="en-US" sz="5000" kern="0" spc="-10" dirty="0">
                <a:solidFill>
                  <a:srgbClr val="000000"/>
                </a:solidFill>
                <a:effectLst/>
                <a:latin typeface="+mj-ea"/>
                <a:ea typeface="+mj-ea"/>
              </a:rPr>
              <a:t>또는 오후</a:t>
            </a:r>
            <a:r>
              <a:rPr lang="en-US" altLang="ko-KR" sz="5000" kern="0" spc="-10" dirty="0">
                <a:solidFill>
                  <a:srgbClr val="000000"/>
                </a:solidFill>
                <a:effectLst/>
                <a:latin typeface="+mj-ea"/>
                <a:ea typeface="+mj-ea"/>
              </a:rPr>
              <a:t>(14:00~16:00)</a:t>
            </a:r>
            <a:r>
              <a:rPr lang="ko-KR" altLang="en-US" sz="5000" kern="0" spc="-10" dirty="0">
                <a:solidFill>
                  <a:srgbClr val="000000"/>
                </a:solidFill>
                <a:effectLst/>
                <a:latin typeface="+mj-ea"/>
                <a:ea typeface="+mj-ea"/>
              </a:rPr>
              <a:t>에 본인의 포스터논문 앞에서 발표</a:t>
            </a:r>
            <a:endParaRPr lang="ko-KR" altLang="en-US" sz="5000" kern="0" spc="0" dirty="0">
              <a:solidFill>
                <a:srgbClr val="000000"/>
              </a:solidFill>
              <a:effectLst/>
              <a:latin typeface="+mj-ea"/>
              <a:ea typeface="+mj-ea"/>
            </a:endParaRPr>
          </a:p>
          <a:p>
            <a:pPr marL="0" marR="0" indent="0" algn="just" fontAlgn="base" latinLnBrk="0">
              <a:lnSpc>
                <a:spcPct val="170000"/>
              </a:lnSpc>
              <a:spcBef>
                <a:spcPts val="0"/>
              </a:spcBef>
              <a:spcAft>
                <a:spcPts val="0"/>
              </a:spcAft>
              <a:buNone/>
            </a:pPr>
            <a:r>
              <a:rPr lang="en-US" altLang="ko-KR" sz="5000" kern="0" spc="-10" dirty="0">
                <a:solidFill>
                  <a:srgbClr val="FF0000"/>
                </a:solidFill>
                <a:effectLst/>
                <a:latin typeface="+mj-ea"/>
                <a:ea typeface="+mj-ea"/>
              </a:rPr>
              <a:t>   (</a:t>
            </a:r>
            <a:r>
              <a:rPr lang="en-US" altLang="ko-KR" sz="5000" b="1" kern="0" spc="-10" dirty="0">
                <a:solidFill>
                  <a:srgbClr val="FF0000"/>
                </a:solidFill>
                <a:effectLst/>
                <a:latin typeface="+mj-ea"/>
                <a:ea typeface="+mj-ea"/>
              </a:rPr>
              <a:t>6</a:t>
            </a:r>
            <a:r>
              <a:rPr lang="ko-KR" altLang="en-US" sz="5000" b="1" kern="0" spc="-10" dirty="0">
                <a:solidFill>
                  <a:srgbClr val="FF0000"/>
                </a:solidFill>
                <a:effectLst/>
                <a:latin typeface="+mj-ea"/>
                <a:ea typeface="+mj-ea"/>
              </a:rPr>
              <a:t>월 </a:t>
            </a:r>
            <a:r>
              <a:rPr lang="en-US" altLang="ko-KR" sz="5000" b="1" kern="0" spc="-10" dirty="0">
                <a:solidFill>
                  <a:srgbClr val="FF0000"/>
                </a:solidFill>
                <a:effectLst/>
                <a:latin typeface="+mj-ea"/>
                <a:ea typeface="+mj-ea"/>
              </a:rPr>
              <a:t>5</a:t>
            </a:r>
            <a:r>
              <a:rPr lang="ko-KR" altLang="en-US" sz="5000" b="1" kern="0" spc="-10" dirty="0">
                <a:solidFill>
                  <a:srgbClr val="FF0000"/>
                </a:solidFill>
                <a:effectLst/>
                <a:latin typeface="+mj-ea"/>
                <a:ea typeface="+mj-ea"/>
              </a:rPr>
              <a:t>일</a:t>
            </a:r>
            <a:r>
              <a:rPr lang="en-US" altLang="ko-KR" sz="5000" b="1" kern="0" spc="-10" dirty="0">
                <a:solidFill>
                  <a:srgbClr val="FF0000"/>
                </a:solidFill>
                <a:effectLst/>
                <a:latin typeface="+mj-ea"/>
                <a:ea typeface="+mj-ea"/>
              </a:rPr>
              <a:t>(</a:t>
            </a:r>
            <a:r>
              <a:rPr lang="ko-KR" altLang="en-US" sz="5000" b="1" kern="0" spc="-10" dirty="0">
                <a:solidFill>
                  <a:srgbClr val="FF0000"/>
                </a:solidFill>
                <a:effectLst/>
                <a:latin typeface="+mj-ea"/>
                <a:ea typeface="+mj-ea"/>
              </a:rPr>
              <a:t>금</a:t>
            </a:r>
            <a:r>
              <a:rPr lang="en-US" altLang="ko-KR" sz="5000" b="1" kern="0" spc="-10" dirty="0">
                <a:solidFill>
                  <a:srgbClr val="FF0000"/>
                </a:solidFill>
                <a:effectLst/>
                <a:latin typeface="+mj-ea"/>
                <a:ea typeface="+mj-ea"/>
              </a:rPr>
              <a:t>) </a:t>
            </a:r>
            <a:r>
              <a:rPr lang="ko-KR" altLang="en-US" sz="5000" b="1" kern="0" spc="-10" dirty="0">
                <a:solidFill>
                  <a:srgbClr val="FF0000"/>
                </a:solidFill>
                <a:effectLst/>
                <a:latin typeface="+mj-ea"/>
                <a:ea typeface="+mj-ea"/>
              </a:rPr>
              <a:t>낮 </a:t>
            </a:r>
            <a:r>
              <a:rPr lang="en-US" altLang="ko-KR" sz="5000" b="1" kern="0" spc="-10" dirty="0">
                <a:solidFill>
                  <a:srgbClr val="FF0000"/>
                </a:solidFill>
                <a:effectLst/>
                <a:latin typeface="+mj-ea"/>
                <a:ea typeface="+mj-ea"/>
              </a:rPr>
              <a:t>12</a:t>
            </a:r>
            <a:r>
              <a:rPr lang="ko-KR" altLang="en-US" sz="5000" b="1" kern="0" spc="-10" dirty="0">
                <a:solidFill>
                  <a:srgbClr val="FF0000"/>
                </a:solidFill>
                <a:effectLst/>
                <a:latin typeface="+mj-ea"/>
                <a:ea typeface="+mj-ea"/>
              </a:rPr>
              <a:t>시까지</a:t>
            </a:r>
            <a:r>
              <a:rPr lang="ko-KR" altLang="en-US" sz="5000" kern="0" spc="-10" dirty="0">
                <a:solidFill>
                  <a:srgbClr val="FF0000"/>
                </a:solidFill>
                <a:effectLst/>
                <a:latin typeface="+mj-ea"/>
                <a:ea typeface="+mj-ea"/>
              </a:rPr>
              <a:t> </a:t>
            </a:r>
            <a:r>
              <a:rPr lang="en-US" altLang="ko-KR" sz="5000" u="sng" kern="0" spc="-10" dirty="0">
                <a:solidFill>
                  <a:srgbClr val="FF0000"/>
                </a:solidFill>
                <a:effectLst/>
                <a:uFill>
                  <a:solidFill>
                    <a:srgbClr val="0000FF"/>
                  </a:solidFill>
                </a:uFill>
                <a:latin typeface="+mj-ea"/>
                <a:ea typeface="+mj-ea"/>
                <a:hlinkClick r:id="rId2"/>
              </a:rPr>
              <a:t>https://forms.gle/ggtkkF2ASiD2vRpP7</a:t>
            </a:r>
            <a:r>
              <a:rPr lang="ko-KR" altLang="en-US" sz="5000" kern="0" spc="-10" dirty="0">
                <a:solidFill>
                  <a:srgbClr val="FF0000"/>
                </a:solidFill>
                <a:effectLst/>
                <a:latin typeface="+mj-ea"/>
                <a:ea typeface="+mj-ea"/>
              </a:rPr>
              <a:t> 에서 발표시간대 선택</a:t>
            </a:r>
            <a:endParaRPr lang="en-US" altLang="ko-KR" sz="5000" kern="0" spc="-10" dirty="0">
              <a:solidFill>
                <a:srgbClr val="FF0000"/>
              </a:solidFill>
              <a:effectLst/>
              <a:latin typeface="+mj-ea"/>
              <a:ea typeface="+mj-ea"/>
            </a:endParaRPr>
          </a:p>
          <a:p>
            <a:pPr marL="0" marR="0" indent="0" algn="just" fontAlgn="base" latinLnBrk="0">
              <a:lnSpc>
                <a:spcPct val="170000"/>
              </a:lnSpc>
              <a:spcBef>
                <a:spcPts val="0"/>
              </a:spcBef>
              <a:spcAft>
                <a:spcPts val="0"/>
              </a:spcAft>
              <a:buNone/>
            </a:pPr>
            <a:r>
              <a:rPr lang="en-US" altLang="ko-KR" sz="5000" kern="0" spc="-10" dirty="0">
                <a:solidFill>
                  <a:srgbClr val="FF0000"/>
                </a:solidFill>
                <a:latin typeface="+mj-ea"/>
                <a:ea typeface="+mj-ea"/>
              </a:rPr>
              <a:t>  </a:t>
            </a:r>
            <a:r>
              <a:rPr lang="ko-KR" altLang="en-US" sz="5000" kern="0" spc="-10" dirty="0">
                <a:solidFill>
                  <a:srgbClr val="FF0000"/>
                </a:solidFill>
                <a:effectLst/>
                <a:latin typeface="+mj-ea"/>
                <a:ea typeface="+mj-ea"/>
              </a:rPr>
              <a:t> 필수</a:t>
            </a:r>
            <a:r>
              <a:rPr lang="en-US" altLang="ko-KR" sz="5000" kern="0" spc="-10" dirty="0">
                <a:solidFill>
                  <a:srgbClr val="FF0000"/>
                </a:solidFill>
                <a:effectLst/>
                <a:latin typeface="+mj-ea"/>
                <a:ea typeface="+mj-ea"/>
              </a:rPr>
              <a:t>,</a:t>
            </a:r>
            <a:r>
              <a:rPr lang="ko-KR" altLang="en-US" sz="5000" kern="0" spc="-10" dirty="0">
                <a:solidFill>
                  <a:srgbClr val="000000"/>
                </a:solidFill>
                <a:effectLst/>
                <a:latin typeface="+mj-ea"/>
                <a:ea typeface="+mj-ea"/>
              </a:rPr>
              <a:t> 기간 내 입력하지 않으시는 경우 학술위원회에서 임의 배정 예정</a:t>
            </a:r>
            <a:r>
              <a:rPr lang="en-US" altLang="ko-KR" sz="5000" kern="0" spc="-10" dirty="0">
                <a:solidFill>
                  <a:srgbClr val="000000"/>
                </a:solidFill>
                <a:effectLst/>
                <a:latin typeface="+mj-ea"/>
                <a:ea typeface="+mj-ea"/>
              </a:rPr>
              <a:t>)</a:t>
            </a:r>
            <a:endParaRPr lang="ko-KR" altLang="en-US" sz="5000" kern="0" spc="0" dirty="0">
              <a:solidFill>
                <a:srgbClr val="000000"/>
              </a:solidFill>
              <a:effectLst/>
              <a:latin typeface="+mj-ea"/>
              <a:ea typeface="+mj-ea"/>
            </a:endParaRPr>
          </a:p>
          <a:p>
            <a:pPr marL="0" marR="0" indent="0" algn="just" fontAlgn="base" latinLnBrk="0">
              <a:lnSpc>
                <a:spcPct val="170000"/>
              </a:lnSpc>
              <a:spcBef>
                <a:spcPts val="0"/>
              </a:spcBef>
              <a:spcAft>
                <a:spcPts val="0"/>
              </a:spcAft>
              <a:buNone/>
            </a:pPr>
            <a:r>
              <a:rPr lang="en-US" altLang="ko-KR" sz="5000" kern="0" spc="-10" dirty="0">
                <a:solidFill>
                  <a:srgbClr val="000000"/>
                </a:solidFill>
                <a:effectLst/>
                <a:latin typeface="+mj-ea"/>
                <a:ea typeface="+mj-ea"/>
              </a:rPr>
              <a:t>- </a:t>
            </a:r>
            <a:r>
              <a:rPr lang="ko-KR" altLang="en-US" sz="5000" kern="0" spc="-10" dirty="0">
                <a:solidFill>
                  <a:srgbClr val="000000"/>
                </a:solidFill>
                <a:effectLst/>
                <a:latin typeface="+mj-ea"/>
                <a:ea typeface="+mj-ea"/>
              </a:rPr>
              <a:t>철거</a:t>
            </a:r>
            <a:r>
              <a:rPr lang="en-US" altLang="ko-KR" sz="5000" kern="0" spc="-10" dirty="0">
                <a:solidFill>
                  <a:srgbClr val="000000"/>
                </a:solidFill>
                <a:effectLst/>
                <a:latin typeface="+mj-ea"/>
                <a:ea typeface="+mj-ea"/>
              </a:rPr>
              <a:t>: 7</a:t>
            </a:r>
            <a:r>
              <a:rPr lang="ko-KR" altLang="en-US" sz="5000" kern="0" spc="-10" dirty="0">
                <a:solidFill>
                  <a:srgbClr val="000000"/>
                </a:solidFill>
                <a:effectLst/>
                <a:latin typeface="+mj-ea"/>
                <a:ea typeface="+mj-ea"/>
              </a:rPr>
              <a:t>월 </a:t>
            </a:r>
            <a:r>
              <a:rPr lang="en-US" altLang="ko-KR" sz="5000" kern="0" spc="-10" dirty="0">
                <a:solidFill>
                  <a:srgbClr val="000000"/>
                </a:solidFill>
                <a:effectLst/>
                <a:latin typeface="+mj-ea"/>
                <a:ea typeface="+mj-ea"/>
              </a:rPr>
              <a:t>4</a:t>
            </a:r>
            <a:r>
              <a:rPr lang="ko-KR" altLang="en-US" sz="5000" kern="0" spc="-10" dirty="0">
                <a:solidFill>
                  <a:srgbClr val="000000"/>
                </a:solidFill>
                <a:effectLst/>
                <a:latin typeface="+mj-ea"/>
                <a:ea typeface="+mj-ea"/>
              </a:rPr>
              <a:t>일</a:t>
            </a:r>
            <a:r>
              <a:rPr lang="en-US" altLang="ko-KR" sz="5000" kern="0" spc="-10" dirty="0">
                <a:solidFill>
                  <a:srgbClr val="000000"/>
                </a:solidFill>
                <a:effectLst/>
                <a:latin typeface="+mj-ea"/>
                <a:ea typeface="+mj-ea"/>
              </a:rPr>
              <a:t>(</a:t>
            </a:r>
            <a:r>
              <a:rPr lang="ko-KR" altLang="en-US" sz="5000" kern="0" spc="-10" dirty="0">
                <a:solidFill>
                  <a:srgbClr val="000000"/>
                </a:solidFill>
                <a:effectLst/>
                <a:latin typeface="+mj-ea"/>
                <a:ea typeface="+mj-ea"/>
              </a:rPr>
              <a:t>토</a:t>
            </a:r>
            <a:r>
              <a:rPr lang="en-US" altLang="ko-KR" sz="5000" kern="0" spc="-10" dirty="0">
                <a:solidFill>
                  <a:srgbClr val="000000"/>
                </a:solidFill>
                <a:effectLst/>
                <a:latin typeface="+mj-ea"/>
                <a:ea typeface="+mj-ea"/>
              </a:rPr>
              <a:t>) 16:00~17:00 </a:t>
            </a:r>
            <a:r>
              <a:rPr lang="ko-KR" altLang="en-US" sz="5000" kern="0" spc="-10" dirty="0">
                <a:solidFill>
                  <a:srgbClr val="000000"/>
                </a:solidFill>
                <a:effectLst/>
                <a:latin typeface="+mj-ea"/>
                <a:ea typeface="+mj-ea"/>
              </a:rPr>
              <a:t>개인적으로 철거하여야 하며</a:t>
            </a:r>
            <a:r>
              <a:rPr lang="en-US" altLang="ko-KR" sz="5000" kern="0" spc="-10" dirty="0">
                <a:solidFill>
                  <a:srgbClr val="000000"/>
                </a:solidFill>
                <a:effectLst/>
                <a:latin typeface="+mj-ea"/>
                <a:ea typeface="+mj-ea"/>
              </a:rPr>
              <a:t>, </a:t>
            </a:r>
            <a:r>
              <a:rPr lang="ko-KR" altLang="en-US" sz="5000" kern="0" spc="-10" dirty="0">
                <a:solidFill>
                  <a:srgbClr val="000000"/>
                </a:solidFill>
                <a:effectLst/>
                <a:latin typeface="+mj-ea"/>
                <a:ea typeface="+mj-ea"/>
              </a:rPr>
              <a:t>이후 일괄 철거 및 폐기 예정</a:t>
            </a:r>
            <a:endParaRPr lang="ko-KR" altLang="en-US" sz="5000" kern="0" spc="0" dirty="0">
              <a:solidFill>
                <a:srgbClr val="000000"/>
              </a:solidFill>
              <a:effectLst/>
              <a:latin typeface="+mj-ea"/>
              <a:ea typeface="+mj-ea"/>
            </a:endParaRPr>
          </a:p>
          <a:p>
            <a:pPr marL="0" marR="0" indent="0" algn="just" fontAlgn="base" latinLnBrk="0">
              <a:lnSpc>
                <a:spcPct val="170000"/>
              </a:lnSpc>
              <a:spcBef>
                <a:spcPts val="0"/>
              </a:spcBef>
              <a:spcAft>
                <a:spcPts val="0"/>
              </a:spcAft>
              <a:buNone/>
            </a:pPr>
            <a:r>
              <a:rPr lang="en-US" altLang="ko-KR" sz="5000" kern="0" spc="-10" dirty="0">
                <a:solidFill>
                  <a:srgbClr val="000000"/>
                </a:solidFill>
                <a:effectLst/>
                <a:latin typeface="+mj-ea"/>
                <a:ea typeface="+mj-ea"/>
              </a:rPr>
              <a:t>2) </a:t>
            </a:r>
            <a:r>
              <a:rPr lang="ko-KR" altLang="en-US" sz="5000" kern="0" spc="-10" dirty="0">
                <a:solidFill>
                  <a:srgbClr val="000000"/>
                </a:solidFill>
                <a:effectLst/>
                <a:latin typeface="+mj-ea"/>
                <a:ea typeface="+mj-ea"/>
              </a:rPr>
              <a:t>온라인 게시 안내</a:t>
            </a:r>
            <a:endParaRPr lang="ko-KR" altLang="en-US" sz="5000" kern="0" spc="0" dirty="0">
              <a:solidFill>
                <a:srgbClr val="000000"/>
              </a:solidFill>
              <a:effectLst/>
              <a:latin typeface="+mj-ea"/>
              <a:ea typeface="+mj-ea"/>
            </a:endParaRPr>
          </a:p>
          <a:p>
            <a:pPr marL="0" marR="0" indent="0" algn="just" fontAlgn="base" latinLnBrk="0">
              <a:lnSpc>
                <a:spcPct val="170000"/>
              </a:lnSpc>
              <a:spcBef>
                <a:spcPts val="0"/>
              </a:spcBef>
              <a:spcAft>
                <a:spcPts val="0"/>
              </a:spcAft>
              <a:buNone/>
            </a:pPr>
            <a:r>
              <a:rPr lang="en-US" altLang="ko-KR" sz="5000" kern="0" spc="-10" dirty="0">
                <a:solidFill>
                  <a:srgbClr val="000000"/>
                </a:solidFill>
                <a:effectLst/>
                <a:latin typeface="+mj-ea"/>
                <a:ea typeface="+mj-ea"/>
              </a:rPr>
              <a:t>- 2026 </a:t>
            </a:r>
            <a:r>
              <a:rPr lang="ko-KR" altLang="en-US" sz="5000" kern="0" spc="-10" dirty="0">
                <a:solidFill>
                  <a:srgbClr val="000000"/>
                </a:solidFill>
                <a:effectLst/>
                <a:latin typeface="+mj-ea"/>
                <a:ea typeface="+mj-ea"/>
              </a:rPr>
              <a:t>연차학술대회는 오프라인과 온라인 모두에서 진행되며</a:t>
            </a:r>
            <a:r>
              <a:rPr lang="en-US" altLang="ko-KR" sz="5000" kern="0" spc="-10" dirty="0">
                <a:solidFill>
                  <a:srgbClr val="000000"/>
                </a:solidFill>
                <a:effectLst/>
                <a:latin typeface="+mj-ea"/>
                <a:ea typeface="+mj-ea"/>
              </a:rPr>
              <a:t>, </a:t>
            </a:r>
            <a:r>
              <a:rPr lang="ko-KR" altLang="en-US" sz="5000" kern="0" spc="-10" dirty="0">
                <a:solidFill>
                  <a:srgbClr val="000000"/>
                </a:solidFill>
                <a:effectLst/>
                <a:latin typeface="+mj-ea"/>
                <a:ea typeface="+mj-ea"/>
              </a:rPr>
              <a:t>포스터논문 발표자 중 온라인 게시를 동의한 경우에 한해 온라인에서도 열람이 가능하도록 게시됩니다</a:t>
            </a:r>
            <a:r>
              <a:rPr lang="en-US" altLang="ko-KR" sz="5000" kern="0" spc="-10" dirty="0">
                <a:solidFill>
                  <a:srgbClr val="000000"/>
                </a:solidFill>
                <a:effectLst/>
                <a:latin typeface="+mj-ea"/>
                <a:ea typeface="+mj-ea"/>
              </a:rPr>
              <a:t>.</a:t>
            </a:r>
            <a:endParaRPr lang="ko-KR" altLang="en-US" sz="5000" kern="0" spc="0" dirty="0">
              <a:solidFill>
                <a:srgbClr val="000000"/>
              </a:solidFill>
              <a:effectLst/>
              <a:latin typeface="+mj-ea"/>
              <a:ea typeface="+mj-ea"/>
            </a:endParaRPr>
          </a:p>
          <a:p>
            <a:pPr marL="0" marR="0" indent="0" algn="just" fontAlgn="base" latinLnBrk="1">
              <a:lnSpc>
                <a:spcPct val="170000"/>
              </a:lnSpc>
              <a:spcBef>
                <a:spcPts val="0"/>
              </a:spcBef>
              <a:spcAft>
                <a:spcPts val="0"/>
              </a:spcAft>
              <a:buNone/>
            </a:pPr>
            <a:r>
              <a:rPr lang="en-US" altLang="ko-KR" sz="5000" kern="0" spc="-10" dirty="0">
                <a:solidFill>
                  <a:srgbClr val="000000"/>
                </a:solidFill>
                <a:effectLst/>
                <a:latin typeface="+mj-ea"/>
                <a:ea typeface="+mj-ea"/>
              </a:rPr>
              <a:t>- </a:t>
            </a:r>
            <a:r>
              <a:rPr lang="ko-KR" altLang="en-US" sz="5000" kern="0" spc="-40" dirty="0">
                <a:solidFill>
                  <a:srgbClr val="000000"/>
                </a:solidFill>
                <a:effectLst/>
                <a:latin typeface="+mj-ea"/>
                <a:ea typeface="+mj-ea"/>
              </a:rPr>
              <a:t>연차학술대회 기간</a:t>
            </a:r>
            <a:r>
              <a:rPr lang="en-US" altLang="ko-KR" sz="5000" kern="0" spc="-40" dirty="0">
                <a:solidFill>
                  <a:srgbClr val="000000"/>
                </a:solidFill>
                <a:effectLst/>
                <a:latin typeface="+mj-ea"/>
                <a:ea typeface="+mj-ea"/>
              </a:rPr>
              <a:t>(7</a:t>
            </a:r>
            <a:r>
              <a:rPr lang="ko-KR" altLang="en-US" sz="5000" kern="0" spc="-40" dirty="0">
                <a:solidFill>
                  <a:srgbClr val="000000"/>
                </a:solidFill>
                <a:effectLst/>
                <a:latin typeface="+mj-ea"/>
                <a:ea typeface="+mj-ea"/>
              </a:rPr>
              <a:t>월 </a:t>
            </a:r>
            <a:r>
              <a:rPr lang="en-US" altLang="ko-KR" sz="5000" kern="0" spc="-40" dirty="0">
                <a:solidFill>
                  <a:srgbClr val="000000"/>
                </a:solidFill>
                <a:effectLst/>
                <a:latin typeface="+mj-ea"/>
                <a:ea typeface="+mj-ea"/>
              </a:rPr>
              <a:t>4</a:t>
            </a:r>
            <a:r>
              <a:rPr lang="ko-KR" altLang="en-US" sz="5000" kern="0" spc="-40" dirty="0">
                <a:solidFill>
                  <a:srgbClr val="000000"/>
                </a:solidFill>
                <a:effectLst/>
                <a:latin typeface="+mj-ea"/>
                <a:ea typeface="+mj-ea"/>
              </a:rPr>
              <a:t>일 </a:t>
            </a:r>
            <a:r>
              <a:rPr lang="en-US" altLang="ko-KR" sz="5000" kern="0" spc="-40" dirty="0">
                <a:solidFill>
                  <a:srgbClr val="000000"/>
                </a:solidFill>
                <a:effectLst/>
                <a:latin typeface="+mj-ea"/>
                <a:ea typeface="+mj-ea"/>
              </a:rPr>
              <a:t>10:00~16:00) </a:t>
            </a:r>
            <a:r>
              <a:rPr lang="ko-KR" altLang="en-US" sz="5000" kern="0" spc="-40" dirty="0">
                <a:solidFill>
                  <a:srgbClr val="000000"/>
                </a:solidFill>
                <a:effectLst/>
                <a:latin typeface="+mj-ea"/>
                <a:ea typeface="+mj-ea"/>
              </a:rPr>
              <a:t>중 온라인 상에 게시되시는 것에 동의하시는</a:t>
            </a:r>
            <a:r>
              <a:rPr lang="ko-KR" altLang="en-US" sz="5000" kern="0" spc="-10" dirty="0">
                <a:solidFill>
                  <a:srgbClr val="000000"/>
                </a:solidFill>
                <a:effectLst/>
                <a:latin typeface="+mj-ea"/>
                <a:ea typeface="+mj-ea"/>
              </a:rPr>
              <a:t> 경우 최종자료 제출시 ‘파일 업로드 </a:t>
            </a:r>
            <a:r>
              <a:rPr lang="en-US" altLang="ko-KR" sz="5000" kern="0" spc="-10" dirty="0">
                <a:solidFill>
                  <a:srgbClr val="000000"/>
                </a:solidFill>
                <a:effectLst/>
                <a:latin typeface="+mj-ea"/>
                <a:ea typeface="+mj-ea"/>
              </a:rPr>
              <a:t>&gt; </a:t>
            </a:r>
            <a:r>
              <a:rPr lang="ko-KR" altLang="en-US" sz="5000" kern="0" spc="-10" dirty="0">
                <a:solidFill>
                  <a:srgbClr val="000000"/>
                </a:solidFill>
                <a:effectLst/>
                <a:latin typeface="+mj-ea"/>
                <a:ea typeface="+mj-ea"/>
              </a:rPr>
              <a:t>논문접수 </a:t>
            </a:r>
            <a:r>
              <a:rPr lang="en-US" altLang="ko-KR" sz="5000" kern="0" spc="-10" dirty="0">
                <a:solidFill>
                  <a:srgbClr val="000000"/>
                </a:solidFill>
                <a:effectLst/>
                <a:latin typeface="+mj-ea"/>
                <a:ea typeface="+mj-ea"/>
              </a:rPr>
              <a:t>&gt; </a:t>
            </a:r>
            <a:r>
              <a:rPr lang="ko-KR" altLang="en-US" sz="5000" kern="0" spc="-10" dirty="0">
                <a:solidFill>
                  <a:srgbClr val="000000"/>
                </a:solidFill>
                <a:effectLst/>
                <a:latin typeface="+mj-ea"/>
                <a:ea typeface="+mj-ea"/>
              </a:rPr>
              <a:t>동의</a:t>
            </a:r>
            <a:r>
              <a:rPr lang="en-US" altLang="ko-KR" sz="5000" kern="0" spc="-10" dirty="0">
                <a:solidFill>
                  <a:srgbClr val="000000"/>
                </a:solidFill>
                <a:effectLst/>
                <a:latin typeface="+mj-ea"/>
                <a:ea typeface="+mj-ea"/>
              </a:rPr>
              <a:t>'</a:t>
            </a:r>
            <a:r>
              <a:rPr lang="ko-KR" altLang="en-US" sz="5000" kern="0" spc="-10" dirty="0">
                <a:solidFill>
                  <a:srgbClr val="000000"/>
                </a:solidFill>
                <a:effectLst/>
                <a:latin typeface="+mj-ea"/>
                <a:ea typeface="+mj-ea"/>
              </a:rPr>
              <a:t>를 선택하여 주십시오</a:t>
            </a:r>
            <a:r>
              <a:rPr lang="en-US" altLang="ko-KR" sz="5000" kern="0" spc="-10" dirty="0">
                <a:solidFill>
                  <a:srgbClr val="000000"/>
                </a:solidFill>
                <a:effectLst/>
                <a:latin typeface="+mj-ea"/>
                <a:ea typeface="+mj-ea"/>
              </a:rPr>
              <a:t>. </a:t>
            </a:r>
            <a:endParaRPr lang="ko-KR" altLang="en-US" sz="5000" kern="0" spc="0" dirty="0">
              <a:solidFill>
                <a:srgbClr val="000000"/>
              </a:solidFill>
              <a:effectLst/>
              <a:latin typeface="+mj-ea"/>
              <a:ea typeface="+mj-ea"/>
            </a:endParaRPr>
          </a:p>
          <a:p>
            <a:pPr marL="0" marR="0" indent="0" algn="just" fontAlgn="base" latinLnBrk="1">
              <a:lnSpc>
                <a:spcPct val="170000"/>
              </a:lnSpc>
              <a:spcBef>
                <a:spcPts val="0"/>
              </a:spcBef>
              <a:spcAft>
                <a:spcPts val="0"/>
              </a:spcAft>
              <a:buNone/>
            </a:pPr>
            <a:r>
              <a:rPr lang="en-US" altLang="ko-KR" sz="5000" kern="0" spc="-10" dirty="0">
                <a:solidFill>
                  <a:srgbClr val="000000"/>
                </a:solidFill>
                <a:effectLst/>
                <a:latin typeface="+mj-ea"/>
                <a:ea typeface="+mj-ea"/>
              </a:rPr>
              <a:t>(</a:t>
            </a:r>
            <a:r>
              <a:rPr lang="ko-KR" altLang="en-US" sz="5000" kern="0" spc="-10" dirty="0">
                <a:solidFill>
                  <a:srgbClr val="000000"/>
                </a:solidFill>
                <a:effectLst/>
                <a:latin typeface="+mj-ea"/>
                <a:ea typeface="+mj-ea"/>
              </a:rPr>
              <a:t>온라인 게시를 희망하지 않는 경우 미동의 선택</a:t>
            </a:r>
            <a:r>
              <a:rPr lang="en-US" altLang="ko-KR" sz="5000" kern="0" spc="-10" dirty="0">
                <a:solidFill>
                  <a:srgbClr val="000000"/>
                </a:solidFill>
                <a:effectLst/>
                <a:latin typeface="+mj-ea"/>
                <a:ea typeface="+mj-ea"/>
              </a:rPr>
              <a:t>)</a:t>
            </a:r>
            <a:endParaRPr lang="ko-KR" altLang="en-US" sz="5000" kern="0" spc="0" dirty="0">
              <a:solidFill>
                <a:srgbClr val="000000"/>
              </a:solidFill>
              <a:effectLst/>
              <a:latin typeface="+mj-ea"/>
              <a:ea typeface="+mj-ea"/>
            </a:endParaRPr>
          </a:p>
          <a:p>
            <a:pPr marL="0" marR="0" indent="0" algn="r" fontAlgn="base" latinLnBrk="0">
              <a:lnSpc>
                <a:spcPct val="170000"/>
              </a:lnSpc>
              <a:spcBef>
                <a:spcPts val="0"/>
              </a:spcBef>
              <a:spcAft>
                <a:spcPts val="0"/>
              </a:spcAft>
              <a:buNone/>
            </a:pPr>
            <a:r>
              <a:rPr lang="ko-KR" altLang="en-US" sz="5000" kern="0" spc="-10" dirty="0">
                <a:solidFill>
                  <a:srgbClr val="000000"/>
                </a:solidFill>
                <a:effectLst/>
                <a:latin typeface="+mj-ea"/>
                <a:ea typeface="+mj-ea"/>
              </a:rPr>
              <a:t>* 게시 자료는 다운로드가 불가능합니다</a:t>
            </a:r>
            <a:r>
              <a:rPr lang="en-US" altLang="ko-KR" sz="5000" kern="0" spc="-10" dirty="0">
                <a:solidFill>
                  <a:srgbClr val="000000"/>
                </a:solidFill>
                <a:effectLst/>
                <a:latin typeface="+mj-ea"/>
                <a:ea typeface="+mj-ea"/>
              </a:rPr>
              <a:t>.</a:t>
            </a:r>
            <a:endParaRPr lang="ko-KR" altLang="en-US" sz="5000" kern="0" spc="0" dirty="0">
              <a:solidFill>
                <a:srgbClr val="000000"/>
              </a:solidFill>
              <a:effectLst/>
              <a:latin typeface="+mj-ea"/>
              <a:ea typeface="+mj-ea"/>
            </a:endParaRPr>
          </a:p>
          <a:p>
            <a:pPr marL="0" marR="0" indent="0" algn="r" fontAlgn="base" latinLnBrk="0">
              <a:lnSpc>
                <a:spcPct val="170000"/>
              </a:lnSpc>
              <a:spcBef>
                <a:spcPts val="0"/>
              </a:spcBef>
              <a:spcAft>
                <a:spcPts val="0"/>
              </a:spcAft>
              <a:buNone/>
            </a:pPr>
            <a:r>
              <a:rPr lang="ko-KR" altLang="en-US" sz="5000" kern="0" spc="-10" dirty="0">
                <a:solidFill>
                  <a:srgbClr val="000000"/>
                </a:solidFill>
                <a:effectLst/>
                <a:latin typeface="+mj-ea"/>
                <a:ea typeface="+mj-ea"/>
              </a:rPr>
              <a:t>* 학회원은 온라인 뷰어 형태로만 열람 가능합니다</a:t>
            </a:r>
            <a:r>
              <a:rPr lang="en-US" altLang="ko-KR" sz="5000" kern="0" spc="-10" dirty="0">
                <a:solidFill>
                  <a:srgbClr val="000000"/>
                </a:solidFill>
                <a:effectLst/>
                <a:latin typeface="+mj-ea"/>
                <a:ea typeface="+mj-ea"/>
              </a:rPr>
              <a:t>.</a:t>
            </a:r>
            <a:endParaRPr lang="ko-KR" altLang="en-US" sz="5000" kern="0" spc="0" dirty="0">
              <a:solidFill>
                <a:srgbClr val="000000"/>
              </a:solidFill>
              <a:effectLst/>
              <a:latin typeface="+mj-ea"/>
              <a:ea typeface="+mj-ea"/>
            </a:endParaRPr>
          </a:p>
          <a:p>
            <a:pPr marL="0" marR="0" indent="0" algn="r" fontAlgn="base" latinLnBrk="0">
              <a:lnSpc>
                <a:spcPct val="170000"/>
              </a:lnSpc>
              <a:spcBef>
                <a:spcPts val="0"/>
              </a:spcBef>
              <a:spcAft>
                <a:spcPts val="0"/>
              </a:spcAft>
            </a:pPr>
            <a:r>
              <a:rPr lang="ko-KR" altLang="en-US" sz="5000" kern="0" spc="-10" dirty="0">
                <a:solidFill>
                  <a:srgbClr val="000000"/>
                </a:solidFill>
                <a:effectLst/>
                <a:latin typeface="+mj-ea"/>
                <a:ea typeface="+mj-ea"/>
              </a:rPr>
              <a:t> 문의 학술위원회</a:t>
            </a:r>
            <a:r>
              <a:rPr lang="en-US" altLang="ko-KR" sz="5000" kern="0" spc="-10" dirty="0">
                <a:solidFill>
                  <a:srgbClr val="000000"/>
                </a:solidFill>
                <a:effectLst/>
                <a:latin typeface="+mj-ea"/>
                <a:ea typeface="+mj-ea"/>
              </a:rPr>
              <a:t>(</a:t>
            </a:r>
            <a:r>
              <a:rPr lang="en-US" altLang="ko-KR" sz="5000" u="sng" kern="0" spc="-10" dirty="0">
                <a:solidFill>
                  <a:srgbClr val="0000FF"/>
                </a:solidFill>
                <a:effectLst/>
                <a:uFill>
                  <a:solidFill>
                    <a:srgbClr val="0000FF"/>
                  </a:solidFill>
                </a:uFill>
                <a:latin typeface="+mj-ea"/>
                <a:ea typeface="+mj-ea"/>
                <a:hlinkClick r:id="rId3"/>
              </a:rPr>
              <a:t>kca11402@counselors.or.kr</a:t>
            </a:r>
            <a:r>
              <a:rPr lang="en-US" altLang="ko-KR" sz="5000" kern="0" spc="-10" dirty="0">
                <a:solidFill>
                  <a:srgbClr val="000000"/>
                </a:solidFill>
                <a:effectLst/>
                <a:latin typeface="+mj-ea"/>
                <a:ea typeface="+mj-ea"/>
              </a:rPr>
              <a:t>)</a:t>
            </a:r>
            <a:endParaRPr lang="ko-KR" altLang="en-US" sz="5000" kern="0" spc="0" dirty="0">
              <a:solidFill>
                <a:srgbClr val="000000"/>
              </a:solidFill>
              <a:effectLst/>
              <a:latin typeface="+mj-ea"/>
              <a:ea typeface="+mj-ea"/>
            </a:endParaRPr>
          </a:p>
          <a:p>
            <a:pPr marL="0" marR="0" indent="0" algn="just" fontAlgn="base" latinLnBrk="0">
              <a:lnSpc>
                <a:spcPct val="170000"/>
              </a:lnSpc>
              <a:spcBef>
                <a:spcPts val="0"/>
              </a:spcBef>
              <a:spcAft>
                <a:spcPts val="0"/>
              </a:spcAft>
              <a:buNone/>
            </a:pPr>
            <a:endParaRPr lang="ko-KR" altLang="en-US" sz="5000" kern="0" spc="0" dirty="0">
              <a:solidFill>
                <a:srgbClr val="000000"/>
              </a:solidFill>
              <a:effectLst/>
              <a:latin typeface="+mj-ea"/>
              <a:ea typeface="+mj-ea"/>
            </a:endParaRPr>
          </a:p>
          <a:p>
            <a:pPr algn="just"/>
            <a:endParaRPr lang="en-US" altLang="ko-KR" sz="5000" dirty="0">
              <a:latin typeface="+mj-ea"/>
              <a:ea typeface="+mj-ea"/>
            </a:endParaRPr>
          </a:p>
          <a:p>
            <a:pPr marL="0" indent="0" algn="just">
              <a:buNone/>
            </a:pPr>
            <a:endParaRPr lang="en-US" altLang="ko-KR" sz="5000" dirty="0">
              <a:latin typeface="+mj-ea"/>
              <a:ea typeface="+mj-ea"/>
            </a:endParaRPr>
          </a:p>
          <a:p>
            <a:pPr algn="just"/>
            <a:endParaRPr lang="ko-KR" altLang="en-US" sz="5000" dirty="0">
              <a:latin typeface="+mj-ea"/>
              <a:ea typeface="+mj-ea"/>
            </a:endParaRPr>
          </a:p>
        </p:txBody>
      </p:sp>
    </p:spTree>
    <p:extLst>
      <p:ext uri="{BB962C8B-B14F-4D97-AF65-F5344CB8AC3E}">
        <p14:creationId xmlns:p14="http://schemas.microsoft.com/office/powerpoint/2010/main" val="28562975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그림 6">
            <a:extLst>
              <a:ext uri="{FF2B5EF4-FFF2-40B4-BE49-F238E27FC236}">
                <a16:creationId xmlns:a16="http://schemas.microsoft.com/office/drawing/2014/main" id="{4FEFCCE4-57E0-496B-AE8E-FE65B5A229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459" y="-20955"/>
            <a:ext cx="30379672" cy="42824718"/>
          </a:xfrm>
          <a:prstGeom prst="rect">
            <a:avLst/>
          </a:prstGeom>
        </p:spPr>
      </p:pic>
      <p:sp>
        <p:nvSpPr>
          <p:cNvPr id="8" name="직사각형 7">
            <a:extLst>
              <a:ext uri="{FF2B5EF4-FFF2-40B4-BE49-F238E27FC236}">
                <a16:creationId xmlns:a16="http://schemas.microsoft.com/office/drawing/2014/main" id="{14CBC4DB-A29D-4C83-8C23-86283907ABB5}"/>
              </a:ext>
            </a:extLst>
          </p:cNvPr>
          <p:cNvSpPr/>
          <p:nvPr/>
        </p:nvSpPr>
        <p:spPr>
          <a:xfrm>
            <a:off x="935990" y="1746885"/>
            <a:ext cx="28159393" cy="35966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 name="직사각형 8">
            <a:extLst>
              <a:ext uri="{FF2B5EF4-FFF2-40B4-BE49-F238E27FC236}">
                <a16:creationId xmlns:a16="http://schemas.microsoft.com/office/drawing/2014/main" id="{766661AB-57EB-4CD4-A757-1D96FB752018}"/>
              </a:ext>
            </a:extLst>
          </p:cNvPr>
          <p:cNvSpPr/>
          <p:nvPr/>
        </p:nvSpPr>
        <p:spPr>
          <a:xfrm>
            <a:off x="935990" y="5964873"/>
            <a:ext cx="28159393" cy="3509200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2">
            <a:extLst>
              <a:ext uri="{FF2B5EF4-FFF2-40B4-BE49-F238E27FC236}">
                <a16:creationId xmlns:a16="http://schemas.microsoft.com/office/drawing/2014/main" id="{B9E84094-129A-48BE-BDAE-AF99345ED0FD}"/>
              </a:ext>
            </a:extLst>
          </p:cNvPr>
          <p:cNvSpPr txBox="1"/>
          <p:nvPr/>
        </p:nvSpPr>
        <p:spPr>
          <a:xfrm>
            <a:off x="2520000" y="2160000"/>
            <a:ext cx="25236000" cy="2520000"/>
          </a:xfrm>
          <a:prstGeom prst="rect">
            <a:avLst/>
          </a:prstGeom>
          <a:noFill/>
        </p:spPr>
        <p:txBody>
          <a:bodyPr wrap="square" rtlCol="0" anchor="t">
            <a:noAutofit/>
          </a:bodyPr>
          <a:lstStyle/>
          <a:p>
            <a:pPr algn="ctr"/>
            <a:r>
              <a:rPr sz="6000" b="1">
                <a:solidFill>
                  <a:srgbClr val="2C2C2C"/>
                </a:solidFill>
                <a:latin typeface="맑은 고딕"/>
                <a:ea typeface="맑은 고딕"/>
                <a:cs typeface="맑은 고딕"/>
              </a:rPr>
              <a:t>한국어 공개 SNS에 기록된 상담 경험의 기술적 특징</a:t>
            </a:r>
          </a:p>
          <a:p>
            <a:pPr algn="ctr">
              <a:spcBef>
                <a:spcPts val="600"/>
              </a:spcBef>
            </a:pPr>
            <a:r>
              <a:rPr sz="3000" b="0">
                <a:solidFill>
                  <a:srgbClr val="2C2C2C"/>
                </a:solidFill>
                <a:latin typeface="맑은 고딕"/>
                <a:ea typeface="맑은 고딕"/>
                <a:cs typeface="맑은 고딕"/>
              </a:rPr>
              <a:t>LLM 보조 정제 절차로 분석한 사례 보고</a:t>
            </a:r>
          </a:p>
        </p:txBody>
      </p:sp>
      <p:sp>
        <p:nvSpPr>
          <p:cNvPr id="34" name="TextBox 14">
            <a:extLst>
              <a:ext uri="{FF2B5EF4-FFF2-40B4-BE49-F238E27FC236}">
                <a16:creationId xmlns:a16="http://schemas.microsoft.com/office/drawing/2014/main" id="{442997A3-235F-4A07-8221-599FBE447DC4}"/>
              </a:ext>
            </a:extLst>
          </p:cNvPr>
          <p:cNvSpPr txBox="1"/>
          <p:nvPr/>
        </p:nvSpPr>
        <p:spPr>
          <a:xfrm>
            <a:off x="2520000" y="4536000"/>
            <a:ext cx="25236000" cy="864000"/>
          </a:xfrm>
          <a:prstGeom prst="rect">
            <a:avLst/>
          </a:prstGeom>
        </p:spPr>
        <p:txBody>
          <a:bodyPr lIns="0" tIns="0" rIns="0" bIns="0" anchor="t" wrap="square">
            <a:noAutofit/>
          </a:bodyPr>
          <a:lstStyle/>
          <a:p>
            <a:pPr lvl="0" algn="ctr">
              <a:lnSpc>
                <a:spcPct val="116199"/>
              </a:lnSpc>
              <a:defRPr/>
            </a:pPr>
            <a:r>
              <a:rPr sz="3400" b="1">
                <a:solidFill>
                  <a:srgbClr val="2C2C2C"/>
                </a:solidFill>
                <a:latin typeface="맑은 고딕"/>
                <a:ea typeface="맑은 고딕"/>
                <a:cs typeface="맑은 고딕"/>
              </a:rPr>
              <a:t>이윤정 (서울대학교)</a:t>
            </a:r>
            <a:endParaRPr lang="ko-KR" altLang="en-US" sz="4800" b="1" dirty="0">
              <a:solidFill>
                <a:srgbClr val="2C2C2C"/>
              </a:solidFill>
              <a:latin typeface="맑은 고딕"/>
            </a:endParaRPr>
          </a:p>
        </p:txBody>
      </p:sp>
      <p:pic>
        <p:nvPicPr>
          <p:cNvPr id="35" name="Picture 5">
            <a:extLst>
              <a:ext uri="{FF2B5EF4-FFF2-40B4-BE49-F238E27FC236}">
                <a16:creationId xmlns:a16="http://schemas.microsoft.com/office/drawing/2014/main" id="{4EBD3106-DA7B-4851-8DF1-04940E4499BC}"/>
              </a:ext>
            </a:extLst>
          </p:cNvPr>
          <p:cNvPicPr>
            <a:picLocks noChangeAspect="1"/>
          </p:cNvPicPr>
          <p:nvPr/>
        </p:nvPicPr>
        <p:blipFill rotWithShape="1">
          <a:blip r:embed="rId3"/>
          <a:stretch>
            <a:fillRect/>
          </a:stretch>
        </p:blipFill>
        <p:spPr>
          <a:xfrm>
            <a:off x="1210604" y="6474062"/>
            <a:ext cx="12780000" cy="1236409"/>
          </a:xfrm>
          <a:prstGeom prst="rect">
            <a:avLst/>
          </a:prstGeom>
        </p:spPr>
      </p:pic>
      <p:grpSp>
        <p:nvGrpSpPr>
          <p:cNvPr id="36" name="그룹 35">
            <a:extLst>
              <a:ext uri="{FF2B5EF4-FFF2-40B4-BE49-F238E27FC236}">
                <a16:creationId xmlns:a16="http://schemas.microsoft.com/office/drawing/2014/main" id="{752D7B9D-B162-45CE-AE98-64526CC9DFE3}"/>
              </a:ext>
            </a:extLst>
          </p:cNvPr>
          <p:cNvGrpSpPr/>
          <p:nvPr/>
        </p:nvGrpSpPr>
        <p:grpSpPr>
          <a:xfrm>
            <a:off x="1583047" y="8174598"/>
            <a:ext cx="8398170" cy="698261"/>
            <a:chOff x="1917042" y="6178257"/>
            <a:chExt cx="8398170" cy="698261"/>
          </a:xfrm>
        </p:grpSpPr>
        <p:pic>
          <p:nvPicPr>
            <p:cNvPr id="37" name="Picture 6">
              <a:extLst>
                <a:ext uri="{FF2B5EF4-FFF2-40B4-BE49-F238E27FC236}">
                  <a16:creationId xmlns:a16="http://schemas.microsoft.com/office/drawing/2014/main" id="{38C918FC-963A-4A5F-AFA8-53DE9AE44D47}"/>
                </a:ext>
              </a:extLst>
            </p:cNvPr>
            <p:cNvPicPr>
              <a:picLocks noChangeAspect="1"/>
            </p:cNvPicPr>
            <p:nvPr/>
          </p:nvPicPr>
          <p:blipFill rotWithShape="1">
            <a:blip r:embed="rId4"/>
            <a:stretch>
              <a:fillRect/>
            </a:stretch>
          </p:blipFill>
          <p:spPr>
            <a:xfrm rot="5400000">
              <a:off x="1694868" y="6546457"/>
              <a:ext cx="507826" cy="63478"/>
            </a:xfrm>
            <a:prstGeom prst="rect">
              <a:avLst/>
            </a:prstGeom>
          </p:spPr>
        </p:pic>
        <p:sp>
          <p:nvSpPr>
            <p:cNvPr id="38" name="TextBox 7">
              <a:extLst>
                <a:ext uri="{FF2B5EF4-FFF2-40B4-BE49-F238E27FC236}">
                  <a16:creationId xmlns:a16="http://schemas.microsoft.com/office/drawing/2014/main" id="{0FB77D6D-9830-43E1-B27C-C76C9D584BD5}"/>
                </a:ext>
              </a:extLst>
            </p:cNvPr>
            <p:cNvSpPr txBox="1"/>
            <p:nvPr/>
          </p:nvSpPr>
          <p:spPr>
            <a:xfrm>
              <a:off x="2278868" y="6178257"/>
              <a:ext cx="8036344" cy="698261"/>
            </a:xfrm>
            <a:prstGeom prst="rect">
              <a:avLst/>
            </a:prstGeom>
          </p:spPr>
          <p:txBody>
            <a:bodyPr lIns="0" tIns="0" rIns="0" bIns="0" anchor="t"/>
            <a:lstStyle/>
            <a:p>
              <a:pPr lvl="0" algn="l">
                <a:lnSpc>
                  <a:spcPct val="116199"/>
                </a:lnSpc>
                <a:defRPr/>
              </a:pPr>
              <a:r>
                <a:rPr lang="en-US" sz="4800" dirty="0">
                  <a:solidFill>
                    <a:srgbClr val="2C2C2C"/>
                  </a:solidFill>
                  <a:latin typeface="맑은 고딕"/>
                  <a:ea typeface="맑은 고딕"/>
                </a:rPr>
                <a:t>1. </a:t>
              </a:r>
              <a:r>
                <a:rPr lang="ko-KR" altLang="en-US" sz="4800" dirty="0">
                  <a:solidFill>
                    <a:srgbClr val="2C2C2C"/>
                  </a:solidFill>
                  <a:latin typeface="맑은 고딕"/>
                </a:rPr>
                <a:t>연구의</a:t>
              </a:r>
              <a:r>
                <a:rPr lang="en-US" sz="4800" dirty="0">
                  <a:solidFill>
                    <a:srgbClr val="2C2C2C"/>
                  </a:solidFill>
                  <a:latin typeface="맑은 고딕"/>
                  <a:ea typeface="맑은 고딕"/>
                </a:rPr>
                <a:t> </a:t>
              </a:r>
              <a:r>
                <a:rPr lang="ko-KR" altLang="en-US" sz="4800" dirty="0">
                  <a:solidFill>
                    <a:srgbClr val="2C2C2C"/>
                  </a:solidFill>
                  <a:latin typeface="맑은 고딕"/>
                </a:rPr>
                <a:t>필요성</a:t>
              </a:r>
            </a:p>
          </p:txBody>
        </p:sp>
      </p:grpSp>
      <p:sp>
        <p:nvSpPr>
          <p:cNvPr id="39" name="TextBox 8">
            <a:extLst>
              <a:ext uri="{FF2B5EF4-FFF2-40B4-BE49-F238E27FC236}">
                <a16:creationId xmlns:a16="http://schemas.microsoft.com/office/drawing/2014/main" id="{F579340C-68BA-4490-9925-9DDC75685F09}"/>
              </a:ext>
            </a:extLst>
          </p:cNvPr>
          <p:cNvSpPr txBox="1"/>
          <p:nvPr/>
        </p:nvSpPr>
        <p:spPr>
          <a:xfrm>
            <a:off x="1684613" y="6660649"/>
            <a:ext cx="2615303" cy="888695"/>
          </a:xfrm>
          <a:prstGeom prst="rect">
            <a:avLst/>
          </a:prstGeom>
        </p:spPr>
        <p:txBody>
          <a:bodyPr lIns="0" tIns="0" rIns="0" bIns="0" anchor="t"/>
          <a:lstStyle/>
          <a:p>
            <a:pPr lvl="0" algn="l">
              <a:lnSpc>
                <a:spcPct val="116199"/>
              </a:lnSpc>
              <a:defRPr/>
            </a:pPr>
            <a:r>
              <a:rPr lang="en-US" sz="6000" b="1" dirty="0">
                <a:solidFill>
                  <a:srgbClr val="2C2C2C"/>
                </a:solidFill>
                <a:latin typeface="맑은 고딕"/>
                <a:ea typeface="맑은 고딕"/>
              </a:rPr>
              <a:t>I. </a:t>
            </a:r>
            <a:r>
              <a:rPr lang="ko-KR" altLang="en-US" sz="6000" b="1" dirty="0">
                <a:solidFill>
                  <a:srgbClr val="2C2C2C"/>
                </a:solidFill>
                <a:latin typeface="맑은 고딕"/>
              </a:rPr>
              <a:t>서론</a:t>
            </a:r>
          </a:p>
        </p:txBody>
      </p:sp>
      <p:grpSp>
        <p:nvGrpSpPr>
          <p:cNvPr id="40" name="그룹 39">
            <a:extLst>
              <a:ext uri="{FF2B5EF4-FFF2-40B4-BE49-F238E27FC236}">
                <a16:creationId xmlns:a16="http://schemas.microsoft.com/office/drawing/2014/main" id="{B76C6B94-19AF-4602-965D-F72CC11560C3}"/>
              </a:ext>
            </a:extLst>
          </p:cNvPr>
          <p:cNvGrpSpPr/>
          <p:nvPr/>
        </p:nvGrpSpPr>
        <p:grpSpPr>
          <a:xfrm>
            <a:off x="1741743" y="15480000"/>
            <a:ext cx="8398170" cy="698261"/>
            <a:chOff x="2075738" y="15366711"/>
            <a:chExt cx="8398170" cy="698261"/>
          </a:xfrm>
        </p:grpSpPr>
        <p:pic>
          <p:nvPicPr>
            <p:cNvPr id="41" name="Picture 9">
              <a:extLst>
                <a:ext uri="{FF2B5EF4-FFF2-40B4-BE49-F238E27FC236}">
                  <a16:creationId xmlns:a16="http://schemas.microsoft.com/office/drawing/2014/main" id="{7722F9BB-FE60-48CF-BEA6-D6D1A8AB81FB}"/>
                </a:ext>
              </a:extLst>
            </p:cNvPr>
            <p:cNvPicPr>
              <a:picLocks noChangeAspect="1"/>
            </p:cNvPicPr>
            <p:nvPr/>
          </p:nvPicPr>
          <p:blipFill rotWithShape="1">
            <a:blip r:embed="rId4"/>
            <a:stretch>
              <a:fillRect/>
            </a:stretch>
          </p:blipFill>
          <p:spPr>
            <a:xfrm rot="5400000">
              <a:off x="1853564" y="15753974"/>
              <a:ext cx="507826" cy="63478"/>
            </a:xfrm>
            <a:prstGeom prst="rect">
              <a:avLst/>
            </a:prstGeom>
          </p:spPr>
        </p:pic>
        <p:sp>
          <p:nvSpPr>
            <p:cNvPr id="42" name="TextBox 10">
              <a:extLst>
                <a:ext uri="{FF2B5EF4-FFF2-40B4-BE49-F238E27FC236}">
                  <a16:creationId xmlns:a16="http://schemas.microsoft.com/office/drawing/2014/main" id="{281CE2BA-DD6C-4157-A713-6911D3EB8FDC}"/>
                </a:ext>
              </a:extLst>
            </p:cNvPr>
            <p:cNvSpPr txBox="1"/>
            <p:nvPr/>
          </p:nvSpPr>
          <p:spPr>
            <a:xfrm>
              <a:off x="2437564" y="15366711"/>
              <a:ext cx="8036344" cy="698261"/>
            </a:xfrm>
            <a:prstGeom prst="rect">
              <a:avLst/>
            </a:prstGeom>
          </p:spPr>
          <p:txBody>
            <a:bodyPr lIns="0" tIns="0" rIns="0" bIns="0" anchor="t"/>
            <a:lstStyle/>
            <a:p>
              <a:pPr lvl="0" algn="l">
                <a:lnSpc>
                  <a:spcPct val="116199"/>
                </a:lnSpc>
                <a:defRPr/>
              </a:pPr>
              <a:r>
                <a:rPr lang="en-US" sz="4800" dirty="0">
                  <a:solidFill>
                    <a:srgbClr val="2C2C2C"/>
                  </a:solidFill>
                  <a:latin typeface="맑은 고딕"/>
                  <a:ea typeface="맑은 고딕"/>
                </a:rPr>
                <a:t>2.</a:t>
              </a:r>
              <a:r>
                <a:rPr lang="ko-KR" altLang="en-US" sz="4800" dirty="0">
                  <a:solidFill>
                    <a:srgbClr val="2C2C2C"/>
                  </a:solidFill>
                  <a:latin typeface="맑은 고딕"/>
                </a:rPr>
                <a:t>연구목표</a:t>
              </a:r>
            </a:p>
          </p:txBody>
        </p:sp>
      </p:grpSp>
      <p:pic>
        <p:nvPicPr>
          <p:cNvPr id="43" name="Picture 11">
            <a:extLst>
              <a:ext uri="{FF2B5EF4-FFF2-40B4-BE49-F238E27FC236}">
                <a16:creationId xmlns:a16="http://schemas.microsoft.com/office/drawing/2014/main" id="{24A59E52-731A-414D-995C-2A47D9496337}"/>
              </a:ext>
            </a:extLst>
          </p:cNvPr>
          <p:cNvPicPr>
            <a:picLocks noChangeAspect="1"/>
          </p:cNvPicPr>
          <p:nvPr/>
        </p:nvPicPr>
        <p:blipFill rotWithShape="1">
          <a:blip r:embed="rId3"/>
          <a:stretch>
            <a:fillRect/>
          </a:stretch>
        </p:blipFill>
        <p:spPr>
          <a:xfrm>
            <a:off x="1147126" y="18720000"/>
            <a:ext cx="12780000" cy="1231000"/>
          </a:xfrm>
          <a:prstGeom prst="rect">
            <a:avLst/>
          </a:prstGeom>
        </p:spPr>
      </p:pic>
      <p:sp>
        <p:nvSpPr>
          <p:cNvPr id="44" name="TextBox 12">
            <a:extLst>
              <a:ext uri="{FF2B5EF4-FFF2-40B4-BE49-F238E27FC236}">
                <a16:creationId xmlns:a16="http://schemas.microsoft.com/office/drawing/2014/main" id="{88DCE2F0-9201-4F0D-AC61-4FE6AA30E762}"/>
              </a:ext>
            </a:extLst>
          </p:cNvPr>
          <p:cNvSpPr txBox="1"/>
          <p:nvPr/>
        </p:nvSpPr>
        <p:spPr>
          <a:xfrm>
            <a:off x="1722700" y="18900000"/>
            <a:ext cx="6106606" cy="888695"/>
          </a:xfrm>
          <a:prstGeom prst="rect">
            <a:avLst/>
          </a:prstGeom>
        </p:spPr>
        <p:txBody>
          <a:bodyPr lIns="0" tIns="0" rIns="0" bIns="0" anchor="t"/>
          <a:lstStyle/>
          <a:p>
            <a:pPr lvl="0" algn="l">
              <a:lnSpc>
                <a:spcPct val="116199"/>
              </a:lnSpc>
              <a:defRPr/>
            </a:pPr>
            <a:r>
              <a:rPr lang="en-US" sz="6000" b="1" dirty="0">
                <a:solidFill>
                  <a:srgbClr val="2C2C2C"/>
                </a:solidFill>
                <a:latin typeface="맑은 고딕"/>
                <a:ea typeface="맑은 고딕"/>
              </a:rPr>
              <a:t>II. </a:t>
            </a:r>
            <a:r>
              <a:rPr lang="ko-KR" altLang="en-US" sz="6000" b="1" dirty="0">
                <a:solidFill>
                  <a:srgbClr val="2C2C2C"/>
                </a:solidFill>
                <a:latin typeface="맑은 고딕"/>
              </a:rPr>
              <a:t>이론적</a:t>
            </a:r>
            <a:r>
              <a:rPr lang="en-US" sz="6000" b="1" dirty="0">
                <a:solidFill>
                  <a:srgbClr val="2C2C2C"/>
                </a:solidFill>
                <a:latin typeface="맑은 고딕"/>
                <a:ea typeface="맑은 고딕"/>
              </a:rPr>
              <a:t> </a:t>
            </a:r>
            <a:r>
              <a:rPr lang="ko-KR" altLang="en-US" sz="6000" b="1" dirty="0">
                <a:solidFill>
                  <a:srgbClr val="2C2C2C"/>
                </a:solidFill>
                <a:latin typeface="맑은 고딕"/>
              </a:rPr>
              <a:t>배경</a:t>
            </a:r>
          </a:p>
        </p:txBody>
      </p:sp>
      <p:pic>
        <p:nvPicPr>
          <p:cNvPr id="45" name="Picture 13">
            <a:extLst>
              <a:ext uri="{FF2B5EF4-FFF2-40B4-BE49-F238E27FC236}">
                <a16:creationId xmlns:a16="http://schemas.microsoft.com/office/drawing/2014/main" id="{5C4CBE97-6F6E-42BD-8745-A2D2701B99DB}"/>
              </a:ext>
            </a:extLst>
          </p:cNvPr>
          <p:cNvPicPr>
            <a:picLocks noChangeAspect="1"/>
          </p:cNvPicPr>
          <p:nvPr/>
        </p:nvPicPr>
        <p:blipFill rotWithShape="1">
          <a:blip r:embed="rId3"/>
          <a:stretch>
            <a:fillRect/>
          </a:stretch>
        </p:blipFill>
        <p:spPr>
          <a:xfrm>
            <a:off x="16064508" y="6474064"/>
            <a:ext cx="12780000" cy="1231000"/>
          </a:xfrm>
          <a:prstGeom prst="rect">
            <a:avLst/>
          </a:prstGeom>
        </p:spPr>
      </p:pic>
      <p:sp>
        <p:nvSpPr>
          <p:cNvPr id="46" name="TextBox 14">
            <a:extLst>
              <a:ext uri="{FF2B5EF4-FFF2-40B4-BE49-F238E27FC236}">
                <a16:creationId xmlns:a16="http://schemas.microsoft.com/office/drawing/2014/main" id="{A795E9C9-78C0-4EBA-BFEA-2AB30BED673B}"/>
              </a:ext>
            </a:extLst>
          </p:cNvPr>
          <p:cNvSpPr txBox="1"/>
          <p:nvPr/>
        </p:nvSpPr>
        <p:spPr>
          <a:xfrm>
            <a:off x="16538518" y="6603499"/>
            <a:ext cx="4976693" cy="888695"/>
          </a:xfrm>
          <a:prstGeom prst="rect">
            <a:avLst/>
          </a:prstGeom>
        </p:spPr>
        <p:txBody>
          <a:bodyPr lIns="0" tIns="0" rIns="0" bIns="0" anchor="t"/>
          <a:lstStyle/>
          <a:p>
            <a:pPr lvl="0" algn="l">
              <a:lnSpc>
                <a:spcPct val="116199"/>
              </a:lnSpc>
              <a:defRPr/>
            </a:pPr>
            <a:r>
              <a:rPr lang="en-US" sz="6000" b="1" dirty="0">
                <a:solidFill>
                  <a:srgbClr val="2C2C2C"/>
                </a:solidFill>
                <a:latin typeface="맑은 고딕"/>
                <a:ea typeface="맑은 고딕"/>
              </a:rPr>
              <a:t>IV. </a:t>
            </a:r>
            <a:r>
              <a:rPr lang="ko-KR" altLang="en-US" sz="6000" b="1" dirty="0">
                <a:solidFill>
                  <a:srgbClr val="2C2C2C"/>
                </a:solidFill>
                <a:latin typeface="맑은 고딕"/>
              </a:rPr>
              <a:t>연구결과</a:t>
            </a:r>
          </a:p>
        </p:txBody>
      </p:sp>
      <p:pic>
        <p:nvPicPr>
          <p:cNvPr id="47" name="Picture 15">
            <a:extLst>
              <a:ext uri="{FF2B5EF4-FFF2-40B4-BE49-F238E27FC236}">
                <a16:creationId xmlns:a16="http://schemas.microsoft.com/office/drawing/2014/main" id="{8E5DF4B8-0FFB-4E3B-B787-AF2F566DA699}"/>
              </a:ext>
            </a:extLst>
          </p:cNvPr>
          <p:cNvPicPr>
            <a:picLocks noChangeAspect="1"/>
          </p:cNvPicPr>
          <p:nvPr/>
        </p:nvPicPr>
        <p:blipFill rotWithShape="1">
          <a:blip r:embed="rId3"/>
          <a:stretch>
            <a:fillRect/>
          </a:stretch>
        </p:blipFill>
        <p:spPr>
          <a:xfrm>
            <a:off x="1278353" y="26280000"/>
            <a:ext cx="12780000" cy="1242243"/>
          </a:xfrm>
          <a:prstGeom prst="rect">
            <a:avLst/>
          </a:prstGeom>
        </p:spPr>
      </p:pic>
      <p:sp>
        <p:nvSpPr>
          <p:cNvPr id="48" name="TextBox 16">
            <a:extLst>
              <a:ext uri="{FF2B5EF4-FFF2-40B4-BE49-F238E27FC236}">
                <a16:creationId xmlns:a16="http://schemas.microsoft.com/office/drawing/2014/main" id="{5519B9A3-E5CC-454A-9867-103D9F3EAEA4}"/>
              </a:ext>
            </a:extLst>
          </p:cNvPr>
          <p:cNvSpPr txBox="1"/>
          <p:nvPr/>
        </p:nvSpPr>
        <p:spPr>
          <a:xfrm>
            <a:off x="1786178" y="26388000"/>
            <a:ext cx="7198431" cy="888695"/>
          </a:xfrm>
          <a:prstGeom prst="rect">
            <a:avLst/>
          </a:prstGeom>
        </p:spPr>
        <p:txBody>
          <a:bodyPr lIns="0" tIns="0" rIns="0" bIns="0" anchor="t"/>
          <a:lstStyle/>
          <a:p>
            <a:pPr lvl="0" algn="l">
              <a:lnSpc>
                <a:spcPct val="116199"/>
              </a:lnSpc>
              <a:defRPr/>
            </a:pPr>
            <a:r>
              <a:rPr lang="en-US" sz="6000" b="1" dirty="0">
                <a:solidFill>
                  <a:srgbClr val="2C2C2C"/>
                </a:solidFill>
                <a:latin typeface="맑은 고딕"/>
                <a:ea typeface="맑은 고딕"/>
              </a:rPr>
              <a:t>III. </a:t>
            </a:r>
            <a:r>
              <a:rPr lang="ko-KR" altLang="en-US" sz="6000" b="1" dirty="0">
                <a:solidFill>
                  <a:srgbClr val="2C2C2C"/>
                </a:solidFill>
                <a:latin typeface="맑은 고딕"/>
              </a:rPr>
              <a:t>연구방법</a:t>
            </a:r>
          </a:p>
        </p:txBody>
      </p:sp>
      <p:pic>
        <p:nvPicPr>
          <p:cNvPr id="49" name="Picture 17">
            <a:extLst>
              <a:ext uri="{FF2B5EF4-FFF2-40B4-BE49-F238E27FC236}">
                <a16:creationId xmlns:a16="http://schemas.microsoft.com/office/drawing/2014/main" id="{B059C3F1-899B-44A4-AFD6-E3011CC085B1}"/>
              </a:ext>
            </a:extLst>
          </p:cNvPr>
          <p:cNvPicPr>
            <a:picLocks noChangeAspect="1"/>
          </p:cNvPicPr>
          <p:nvPr/>
        </p:nvPicPr>
        <p:blipFill rotWithShape="1">
          <a:blip r:embed="rId3"/>
          <a:stretch>
            <a:fillRect/>
          </a:stretch>
        </p:blipFill>
        <p:spPr>
          <a:xfrm>
            <a:off x="16064508" y="31992309"/>
            <a:ext cx="12780000" cy="1225273"/>
          </a:xfrm>
          <a:prstGeom prst="rect">
            <a:avLst/>
          </a:prstGeom>
        </p:spPr>
      </p:pic>
      <p:sp>
        <p:nvSpPr>
          <p:cNvPr id="50" name="TextBox 18">
            <a:extLst>
              <a:ext uri="{FF2B5EF4-FFF2-40B4-BE49-F238E27FC236}">
                <a16:creationId xmlns:a16="http://schemas.microsoft.com/office/drawing/2014/main" id="{AF041168-4F99-44FA-B8BD-B01E5BD3372C}"/>
              </a:ext>
            </a:extLst>
          </p:cNvPr>
          <p:cNvSpPr txBox="1"/>
          <p:nvPr/>
        </p:nvSpPr>
        <p:spPr>
          <a:xfrm>
            <a:off x="16640083" y="32121747"/>
            <a:ext cx="4976693" cy="888695"/>
          </a:xfrm>
          <a:prstGeom prst="rect">
            <a:avLst/>
          </a:prstGeom>
        </p:spPr>
        <p:txBody>
          <a:bodyPr lIns="0" tIns="0" rIns="0" bIns="0" anchor="t"/>
          <a:lstStyle/>
          <a:p>
            <a:pPr lvl="0" algn="l">
              <a:lnSpc>
                <a:spcPct val="116199"/>
              </a:lnSpc>
              <a:defRPr/>
            </a:pPr>
            <a:r>
              <a:rPr lang="en-US" sz="6000" b="1">
                <a:solidFill>
                  <a:srgbClr val="2C2C2C"/>
                </a:solidFill>
                <a:latin typeface="맑은 고딕"/>
                <a:ea typeface="맑은 고딕"/>
              </a:rPr>
              <a:t>V </a:t>
            </a:r>
            <a:r>
              <a:rPr lang="ko-KR" altLang="en-US" sz="6000" b="1" dirty="0">
                <a:solidFill>
                  <a:srgbClr val="2C2C2C"/>
                </a:solidFill>
                <a:latin typeface="맑은 고딕"/>
              </a:rPr>
              <a:t>논의</a:t>
            </a:r>
          </a:p>
        </p:txBody>
      </p:sp>
      <p:sp>
        <p:nvSpPr>
          <p:cNvPr id="51" name="TextBox 19">
            <a:extLst>
              <a:ext uri="{FF2B5EF4-FFF2-40B4-BE49-F238E27FC236}">
                <a16:creationId xmlns:a16="http://schemas.microsoft.com/office/drawing/2014/main" id="{16C7D749-A2CE-4DC0-8447-013974010D76}"/>
              </a:ext>
            </a:extLst>
          </p:cNvPr>
          <p:cNvSpPr txBox="1"/>
          <p:nvPr/>
        </p:nvSpPr>
        <p:spPr>
          <a:xfrm>
            <a:off x="1872000" y="9000000"/>
            <a:ext cx="12420000" cy="5760000"/>
          </a:xfrm>
          <a:prstGeom prst="rect">
            <a:avLst/>
          </a:prstGeom>
        </p:spPr>
        <p:txBody>
          <a:bodyPr lIns="0" tIns="0" rIns="0" bIns="0" anchor="t" wrap="square">
            <a:noAutofit/>
          </a:bodyPr>
          <a:lstStyle/>
          <a:p>
            <a:pPr lvl="0" algn="l">
              <a:lnSpc>
                <a:spcPct val="132800"/>
              </a:lnSpc>
              <a:spcAft>
                <a:spcPts val="600"/>
              </a:spcAft>
              <a:defRPr/>
            </a:pPr>
            <a:r>
              <a:rPr sz="2300" b="0">
                <a:solidFill>
                  <a:srgbClr val="2C2C2C"/>
                </a:solidFill>
                <a:latin typeface="맑은 고딕"/>
                <a:ea typeface="맑은 고딕"/>
                <a:cs typeface="맑은 고딕"/>
              </a:rPr>
              <a:t>상담 경험 연구는 부정 경험을 충분히 담아내지 못해 왔다. 그 누락은 부정 경험을 가진 사람이 면접 표본에 들어오지 않는 모집단 차원보다, 같은 사람이라도 면접 환경에서는 그 경험을 보고하지 않는 보고 환경 차원에서 강하게 일어난다(Mohr, 1995; Krumpal, 2013; 문보경·장성숙, 2001). 부정 경험을 가진 내담자일수록 추적 면접에 잘 응하지 않고, 대면 맥락에서는 사회적 바람직성 편향이 작용하기 때문이다. 면접의 한계가 보고 환경에서 비롯된 것이라면, 환경을 바꿀 때 같은 경험이 다른 형태로 기록될 수 있다. 익명을 전제로 자기 경험을 적는 SNS 글이 그 사례다. Steinbrenner 외(2025)는 독일어권 온라인 포럼에서 부정적 심리치료 경험의 주제 구조를 추출해, 공개 텍스트가 분포 수준의 자료원이 됨을 보였다. 그러나 한국어 회고 표현과 상담 문화의 특수성 때문에 영어·독일어권 결과를 그대로 옮기기 어렵고, 한국어 자료를 직접 분석한 연구는 아직 드물다.</a:t>
            </a:r>
          </a:p>
        </p:txBody>
      </p:sp>
      <p:sp>
        <p:nvSpPr>
          <p:cNvPr id="52" name="TextBox 20">
            <a:extLst>
              <a:ext uri="{FF2B5EF4-FFF2-40B4-BE49-F238E27FC236}">
                <a16:creationId xmlns:a16="http://schemas.microsoft.com/office/drawing/2014/main" id="{53C61427-2082-47F3-AD80-A141048F3A73}"/>
              </a:ext>
            </a:extLst>
          </p:cNvPr>
          <p:cNvSpPr txBox="1"/>
          <p:nvPr/>
        </p:nvSpPr>
        <p:spPr>
          <a:xfrm>
            <a:off x="1980000" y="16380000"/>
            <a:ext cx="12420000" cy="2160000"/>
          </a:xfrm>
          <a:prstGeom prst="rect">
            <a:avLst/>
          </a:prstGeom>
        </p:spPr>
        <p:txBody>
          <a:bodyPr lIns="0" tIns="0" rIns="0" bIns="0" anchor="t" wrap="square">
            <a:noAutofit/>
          </a:bodyPr>
          <a:lstStyle/>
          <a:p>
            <a:pPr lvl="0" algn="l">
              <a:lnSpc>
                <a:spcPct val="132800"/>
              </a:lnSpc>
              <a:spcAft>
                <a:spcPts val="600"/>
              </a:spcAft>
              <a:defRPr/>
            </a:pPr>
            <a:r>
              <a:rPr sz="2200" b="1">
                <a:solidFill>
                  <a:srgbClr val="2C2C2C"/>
                </a:solidFill>
                <a:latin typeface="맑은 고딕"/>
                <a:ea typeface="맑은 고딕"/>
                <a:cs typeface="맑은 고딕"/>
              </a:rPr>
              <a:t>목적 1.  </a:t>
            </a:r>
            <a:r>
              <a:rPr sz="2200" b="0">
                <a:solidFill>
                  <a:srgbClr val="2C2C2C"/>
                </a:solidFill>
                <a:latin typeface="맑은 고딕"/>
                <a:ea typeface="맑은 고딕"/>
                <a:cs typeface="맑은 고딕"/>
              </a:rPr>
              <a:t>한국어 공개 SNS 상담 경험 자료에 적용할 LLM 보조 정제 절차를 정리하고, 본문 코퍼스를 구성한다.</a:t>
            </a:r>
          </a:p>
          <a:p>
            <a:pPr>
              <a:spcAft>
                <a:spcPts val="600"/>
              </a:spcAft>
            </a:pPr>
            <a:r>
              <a:rPr sz="2200" b="1">
                <a:solidFill>
                  <a:srgbClr val="2C2C2C"/>
                </a:solidFill>
                <a:latin typeface="맑은 고딕"/>
                <a:ea typeface="맑은 고딕"/>
                <a:cs typeface="맑은 고딕"/>
              </a:rPr>
              <a:t>목적 2.  </a:t>
            </a:r>
            <a:r>
              <a:rPr sz="2200" b="0">
                <a:solidFill>
                  <a:srgbClr val="2C2C2C"/>
                </a:solidFill>
                <a:latin typeface="맑은 고딕"/>
                <a:ea typeface="맑은 고딕"/>
                <a:cs typeface="맑은 고딕"/>
              </a:rPr>
              <a:t>본문 코퍼스의 경험 극성과 사건 언어 양상을 분포 수준에서 기술하고, 면접 기반 선행 연구와 비교한다.</a:t>
            </a:r>
          </a:p>
        </p:txBody>
      </p:sp>
      <p:sp>
        <p:nvSpPr>
          <p:cNvPr id="53" name="TextBox 21">
            <a:extLst>
              <a:ext uri="{FF2B5EF4-FFF2-40B4-BE49-F238E27FC236}">
                <a16:creationId xmlns:a16="http://schemas.microsoft.com/office/drawing/2014/main" id="{C8A6E5CF-1887-4651-A2A9-F8F538484F3E}"/>
              </a:ext>
            </a:extLst>
          </p:cNvPr>
          <p:cNvSpPr txBox="1"/>
          <p:nvPr/>
        </p:nvSpPr>
        <p:spPr>
          <a:xfrm>
            <a:off x="16524000" y="8064000"/>
            <a:ext cx="11880000" cy="2376000"/>
          </a:xfrm>
          <a:prstGeom prst="rect">
            <a:avLst/>
          </a:prstGeom>
        </p:spPr>
        <p:txBody>
          <a:bodyPr lIns="0" tIns="0" rIns="0" bIns="0" anchor="t" wrap="square">
            <a:noAutofit/>
          </a:bodyPr>
          <a:lstStyle/>
          <a:p>
            <a:pPr lvl="0" algn="l">
              <a:lnSpc>
                <a:spcPct val="132800"/>
              </a:lnSpc>
              <a:spcAft>
                <a:spcPts val="600"/>
              </a:spcAft>
              <a:defRPr/>
            </a:pPr>
            <a:r>
              <a:rPr sz="2400" b="1">
                <a:solidFill>
                  <a:srgbClr val="2C2C2C"/>
                </a:solidFill>
                <a:latin typeface="맑은 고딕"/>
                <a:ea typeface="맑은 고딕"/>
                <a:cs typeface="맑은 고딕"/>
              </a:rPr>
              <a:t>기초 분포 — </a:t>
            </a:r>
            <a:r>
              <a:rPr sz="2400" b="0">
                <a:solidFill>
                  <a:srgbClr val="2C2C2C"/>
                </a:solidFill>
                <a:latin typeface="맑은 고딕"/>
                <a:ea typeface="맑은 고딕"/>
                <a:cs typeface="맑은 고딕"/>
              </a:rPr>
              <a:t>본문 코퍼스 361건의 경험 극성은 부정 117·혼합 91·긍정 126·중립 27건이다. 정식 표본에서 과소표집되던 부정 경험이 긍정과 엇비슷한 규모로 함께 들어왔다. 장면은 일반 정신건강 상담 268건과 청소년 학교상담 93건(약 26%)으로 갈렸다.</a:t>
            </a:r>
          </a:p>
        </p:txBody>
      </p:sp>
      <p:sp>
        <p:nvSpPr>
          <p:cNvPr id="54" name="TextBox 22">
            <a:extLst>
              <a:ext uri="{FF2B5EF4-FFF2-40B4-BE49-F238E27FC236}">
                <a16:creationId xmlns:a16="http://schemas.microsoft.com/office/drawing/2014/main" id="{5AC0C06B-EA0B-40EF-AB69-40332E3894E3}"/>
              </a:ext>
            </a:extLst>
          </p:cNvPr>
          <p:cNvSpPr txBox="1"/>
          <p:nvPr/>
        </p:nvSpPr>
        <p:spPr>
          <a:xfrm>
            <a:off x="1764000" y="20340000"/>
            <a:ext cx="12420000" cy="5688000"/>
          </a:xfrm>
          <a:prstGeom prst="rect">
            <a:avLst/>
          </a:prstGeom>
        </p:spPr>
        <p:txBody>
          <a:bodyPr lIns="0" tIns="0" rIns="0" bIns="0" anchor="t" wrap="square">
            <a:noAutofit/>
          </a:bodyPr>
          <a:lstStyle/>
          <a:p>
            <a:pPr lvl="0" algn="l">
              <a:lnSpc>
                <a:spcPct val="132800"/>
              </a:lnSpc>
              <a:spcAft>
                <a:spcPts val="600"/>
              </a:spcAft>
              <a:defRPr/>
            </a:pPr>
            <a:r>
              <a:rPr sz="2200" b="0">
                <a:solidFill>
                  <a:srgbClr val="2C2C2C"/>
                </a:solidFill>
                <a:latin typeface="맑은 고딕"/>
                <a:ea typeface="맑은 고딕"/>
                <a:cs typeface="맑은 고딕"/>
              </a:rPr>
              <a:t>본 연구의 분석 틀은 두 층으로 이루어진다. 이론 고정층은 작업동맹이다. Bordin(1979)은 작업동맹을 유대·과제·목표 세 축의 협력으로 보았다. 유대는 상담자와 내담자의 정서적 결속, 과제는 회기에서 합의해 수행하는 활동, 목표는 함께 이루려는 변화를 가리킨다. 이 세 축은 짧은 회고문에서도 부정 경험과 긍정 경험을 다른 종류의 사건으로 구분하게 해 준다.</a:t>
            </a:r>
          </a:p>
          <a:p>
            <a:pPr>
              <a:spcAft>
                <a:spcPts val="600"/>
              </a:spcAft>
            </a:pPr>
            <a:r>
              <a:rPr sz="2200" b="0">
                <a:solidFill>
                  <a:srgbClr val="2C2C2C"/>
                </a:solidFill>
                <a:latin typeface="맑은 고딕"/>
                <a:ea typeface="맑은 고딕"/>
                <a:cs typeface="맑은 고딕"/>
              </a:rPr>
              <a:t>탐색 고정층은 부정 경험 사건 언어에서 끌어왔다. Mohr(1995)는 부정적 성과를 식별 가능한 사건 단위로 분리해 보고할 것을 권고했고, 문보경·장성숙(2001)은 내담자 불만을 '원치 않는 반응', '상담자의 요구', '상처 경험' 등으로 범주화했다. 본 연구는 이 사건 언어를 살려 여섯 과정 코드를 두었다. 부정 쪽은 강제성·무시당함·상처, 긍정 쪽은 이해받음·안도·성장이다. 각 코드는 글마다 등장 여부를 이진값으로 본다.</a:t>
            </a:r>
          </a:p>
        </p:txBody>
      </p:sp>
      <p:sp>
        <p:nvSpPr>
          <p:cNvPr id="55" name="TextBox 23">
            <a:extLst>
              <a:ext uri="{FF2B5EF4-FFF2-40B4-BE49-F238E27FC236}">
                <a16:creationId xmlns:a16="http://schemas.microsoft.com/office/drawing/2014/main" id="{A054E429-8DD9-4443-AEF9-E00249F50738}"/>
              </a:ext>
            </a:extLst>
          </p:cNvPr>
          <p:cNvSpPr txBox="1"/>
          <p:nvPr/>
        </p:nvSpPr>
        <p:spPr>
          <a:xfrm>
            <a:off x="1764000" y="28008000"/>
            <a:ext cx="12420000" cy="2016000"/>
          </a:xfrm>
          <a:prstGeom prst="rect">
            <a:avLst/>
          </a:prstGeom>
        </p:spPr>
        <p:txBody>
          <a:bodyPr lIns="0" tIns="0" rIns="0" bIns="0" anchor="t" wrap="square">
            <a:noAutofit/>
          </a:bodyPr>
          <a:lstStyle/>
          <a:p>
            <a:pPr lvl="0" algn="l">
              <a:lnSpc>
                <a:spcPct val="132800"/>
              </a:lnSpc>
              <a:spcAft>
                <a:spcPts val="600"/>
              </a:spcAft>
              <a:defRPr/>
            </a:pPr>
            <a:r>
              <a:rPr sz="2200" b="0">
                <a:solidFill>
                  <a:srgbClr val="2C2C2C"/>
                </a:solidFill>
                <a:latin typeface="맑은 고딕"/>
                <a:ea typeface="맑은 고딕"/>
                <a:cs typeface="맑은 고딕"/>
              </a:rPr>
              <a:t>자료는 X 공개 한국어 글에서 모았다(사용자명·외부 식별자 자동 비식별). 질의는 정밀·확장·맥락 점검·누적 확장의 네 층으로 설계했고, 회수 게시물은 2010년 9월~2026년 4월(약 15년 7개월)에 걸쳐 있다.</a:t>
            </a:r>
          </a:p>
        </p:txBody>
      </p:sp>
      <p:sp>
        <p:nvSpPr>
          <p:cNvPr id="56" name="TextBox 24">
            <a:extLst>
              <a:ext uri="{FF2B5EF4-FFF2-40B4-BE49-F238E27FC236}">
                <a16:creationId xmlns:a16="http://schemas.microsoft.com/office/drawing/2014/main" id="{3A0E3AEE-F109-4E09-8C1B-CD8F73E9BDEF}"/>
              </a:ext>
            </a:extLst>
          </p:cNvPr>
          <p:cNvSpPr txBox="1"/>
          <p:nvPr/>
        </p:nvSpPr>
        <p:spPr>
          <a:xfrm>
            <a:off x="16524000" y="33696000"/>
            <a:ext cx="11880000" cy="7200000"/>
          </a:xfrm>
          <a:prstGeom prst="rect">
            <a:avLst/>
          </a:prstGeom>
        </p:spPr>
        <p:txBody>
          <a:bodyPr lIns="0" tIns="0" rIns="0" bIns="0" anchor="t" wrap="square">
            <a:noAutofit/>
          </a:bodyPr>
          <a:lstStyle/>
          <a:p>
            <a:pPr lvl="0" algn="l">
              <a:lnSpc>
                <a:spcPct val="132800"/>
              </a:lnSpc>
              <a:spcAft>
                <a:spcPts val="600"/>
              </a:spcAft>
              <a:defRPr/>
            </a:pPr>
            <a:r>
              <a:rPr sz="2400" b="1">
                <a:solidFill>
                  <a:srgbClr val="2C2C2C"/>
                </a:solidFill>
                <a:latin typeface="맑은 고딕"/>
                <a:ea typeface="맑은 고딕"/>
                <a:cs typeface="맑은 고딕"/>
              </a:rPr>
              <a:t>함의:  </a:t>
            </a:r>
            <a:r>
              <a:rPr sz="2400" b="0">
                <a:solidFill>
                  <a:srgbClr val="2C2C2C"/>
                </a:solidFill>
                <a:latin typeface="맑은 고딕"/>
                <a:ea typeface="맑은 고딕"/>
                <a:cs typeface="맑은 고딕"/>
              </a:rPr>
              <a:t>정식 표본에서 좀처럼 함께 모이지 않던 부정과 긍정 경험이 익명 환경에서는 거의 같은 비중으로 함께 기록되었다(부정 117·긍정 126건). 사건 단위의 경험 언어도 분포 수준에서 갈렸으며, 그 표지는 면접 자료를 분석한 문보경·장성숙(2001)과 닮았다. 다만 이 일치는 같은 모집단의 일치가 아니라, 본 연구의 코드가 그 표지를 출발점으로 삼은 데서 비롯한다.</a:t>
            </a:r>
          </a:p>
          <a:p>
            <a:pPr>
              <a:spcAft>
                <a:spcPts val="600"/>
              </a:spcAft>
            </a:pPr>
            <a:r>
              <a:rPr sz="2400" b="1">
                <a:solidFill>
                  <a:srgbClr val="2C2C2C"/>
                </a:solidFill>
                <a:latin typeface="맑은 고딕"/>
                <a:ea typeface="맑은 고딕"/>
                <a:cs typeface="맑은 고딕"/>
              </a:rPr>
              <a:t>한계:  </a:t>
            </a:r>
            <a:r>
              <a:rPr sz="2400" b="0">
                <a:solidFill>
                  <a:srgbClr val="2C2C2C"/>
                </a:solidFill>
                <a:latin typeface="맑은 고딕"/>
                <a:ea typeface="맑은 고딕"/>
                <a:cs typeface="맑은 고딕"/>
              </a:rPr>
              <a:t>본 결과는 사람 합의 코딩층 없이 LLM 보조 부호화로만 얻었고, 익명 환경에서 자기 경험을 적는 사람이라는 표집 편향 위에서 관찰되었다.</a:t>
            </a:r>
          </a:p>
          <a:p>
            <a:pPr>
              <a:spcAft>
                <a:spcPts val="600"/>
              </a:spcAft>
            </a:pPr>
            <a:r>
              <a:rPr sz="2400" b="1">
                <a:solidFill>
                  <a:srgbClr val="2C2C2C"/>
                </a:solidFill>
                <a:latin typeface="맑은 고딕"/>
                <a:ea typeface="맑은 고딕"/>
                <a:cs typeface="맑은 고딕"/>
              </a:rPr>
              <a:t>전망:  </a:t>
            </a:r>
            <a:r>
              <a:rPr sz="2400" b="0">
                <a:solidFill>
                  <a:srgbClr val="2C2C2C"/>
                </a:solidFill>
                <a:latin typeface="맑은 고딕"/>
                <a:ea typeface="맑은 고딕"/>
                <a:cs typeface="맑은 고딕"/>
              </a:rPr>
              <a:t>따라서 본 연구는 한국 상담 경험 일반에 대한 결론이 아닌 사례 보고이며, 후속 합의적 질적 연구와 면접·SNS 직접 비교의 출발 자료로 쓸 수 있다.</a:t>
            </a:r>
          </a:p>
        </p:txBody>
      </p:sp>
      <p:pic>
        <p:nvPicPr>
          <p:cNvPr id="57" name="Picture 56" descr="pipeline.png"/>
          <p:cNvPicPr>
            <a:picLocks noChangeAspect="1"/>
          </p:cNvPicPr>
          <p:nvPr/>
        </p:nvPicPr>
        <p:blipFill>
          <a:blip r:embed="rId5"/>
          <a:stretch>
            <a:fillRect/>
          </a:stretch>
        </p:blipFill>
        <p:spPr>
          <a:xfrm>
            <a:off x="1800000" y="30240000"/>
            <a:ext cx="12240000" cy="4332448"/>
          </a:xfrm>
          <a:prstGeom prst="rect">
            <a:avLst/>
          </a:prstGeom>
        </p:spPr>
      </p:pic>
      <p:sp>
        <p:nvSpPr>
          <p:cNvPr id="58" name="TextBox 57"/>
          <p:cNvSpPr txBox="1"/>
          <p:nvPr/>
        </p:nvSpPr>
        <p:spPr>
          <a:xfrm>
            <a:off x="1800000" y="34632000"/>
            <a:ext cx="12240000" cy="504000"/>
          </a:xfrm>
          <a:prstGeom prst="rect">
            <a:avLst/>
          </a:prstGeom>
          <a:noFill/>
        </p:spPr>
        <p:txBody>
          <a:bodyPr wrap="square">
            <a:spAutoFit/>
          </a:bodyPr>
          <a:lstStyle/>
          <a:p>
            <a:r>
              <a:rPr sz="1400" i="1">
                <a:solidFill>
                  <a:srgbClr val="2C2C2C"/>
                </a:solidFill>
                <a:latin typeface="맑은 고딕"/>
              </a:rPr>
              <a:t>그림 1. LLM 보조 4층 정제 절차. 규칙 분류로 분량을 줄이고 경계 사례에만 LLM 판정(③)을 적용한다.</a:t>
            </a:r>
          </a:p>
        </p:txBody>
      </p:sp>
      <p:pic>
        <p:nvPicPr>
          <p:cNvPr id="59" name="Picture 58" descr="corpus_funnel.png"/>
          <p:cNvPicPr>
            <a:picLocks noChangeAspect="1"/>
          </p:cNvPicPr>
          <p:nvPr/>
        </p:nvPicPr>
        <p:blipFill>
          <a:blip r:embed="rId6"/>
          <a:stretch>
            <a:fillRect/>
          </a:stretch>
        </p:blipFill>
        <p:spPr>
          <a:xfrm>
            <a:off x="3528000" y="35496000"/>
            <a:ext cx="8568000" cy="4785940"/>
          </a:xfrm>
          <a:prstGeom prst="rect">
            <a:avLst/>
          </a:prstGeom>
        </p:spPr>
      </p:pic>
      <p:sp>
        <p:nvSpPr>
          <p:cNvPr id="60" name="TextBox 59"/>
          <p:cNvSpPr txBox="1"/>
          <p:nvPr/>
        </p:nvSpPr>
        <p:spPr>
          <a:xfrm>
            <a:off x="3528000" y="40320000"/>
            <a:ext cx="8568000" cy="504000"/>
          </a:xfrm>
          <a:prstGeom prst="rect">
            <a:avLst/>
          </a:prstGeom>
          <a:noFill/>
        </p:spPr>
        <p:txBody>
          <a:bodyPr wrap="square">
            <a:spAutoFit/>
          </a:bodyPr>
          <a:lstStyle/>
          <a:p>
            <a:r>
              <a:rPr sz="1400" i="1">
                <a:solidFill>
                  <a:srgbClr val="2C2C2C"/>
                </a:solidFill>
                <a:latin typeface="맑은 고딕"/>
              </a:rPr>
              <a:t>그림 2. 원자료 3,652건 → 본문 코퍼스 361건(9.9%). 관련성 유지본 479·엄격 확정본 451건 경유.</a:t>
            </a:r>
          </a:p>
        </p:txBody>
      </p:sp>
      <p:pic>
        <p:nvPicPr>
          <p:cNvPr id="61" name="Picture 60" descr="corpus_overview.png"/>
          <p:cNvPicPr>
            <a:picLocks noChangeAspect="1"/>
          </p:cNvPicPr>
          <p:nvPr/>
        </p:nvPicPr>
        <p:blipFill>
          <a:blip r:embed="rId7"/>
          <a:stretch>
            <a:fillRect/>
          </a:stretch>
        </p:blipFill>
        <p:spPr>
          <a:xfrm>
            <a:off x="16668000" y="10512000"/>
            <a:ext cx="11592000" cy="4327680"/>
          </a:xfrm>
          <a:prstGeom prst="rect">
            <a:avLst/>
          </a:prstGeom>
        </p:spPr>
      </p:pic>
      <p:sp>
        <p:nvSpPr>
          <p:cNvPr id="62" name="TextBox 61"/>
          <p:cNvSpPr txBox="1"/>
          <p:nvPr/>
        </p:nvSpPr>
        <p:spPr>
          <a:xfrm>
            <a:off x="16524000" y="15120000"/>
            <a:ext cx="11880000" cy="1872000"/>
          </a:xfrm>
          <a:prstGeom prst="rect">
            <a:avLst/>
          </a:prstGeom>
          <a:noFill/>
        </p:spPr>
        <p:txBody>
          <a:bodyPr wrap="square">
            <a:spAutoFit/>
          </a:bodyPr>
          <a:lstStyle/>
          <a:p>
            <a:pPr>
              <a:spcAft>
                <a:spcPts val="600"/>
              </a:spcAft>
            </a:pPr>
            <a:r>
              <a:rPr sz="2400" b="1">
                <a:solidFill>
                  <a:srgbClr val="2C2C2C"/>
                </a:solidFill>
                <a:latin typeface="맑은 고딕"/>
                <a:ea typeface="맑은 고딕"/>
                <a:cs typeface="맑은 고딕"/>
              </a:rPr>
              <a:t>면접 기반 선행 연구와의 비교 — </a:t>
            </a:r>
            <a:r>
              <a:rPr sz="2400" b="0">
                <a:solidFill>
                  <a:srgbClr val="2C2C2C"/>
                </a:solidFill>
                <a:latin typeface="맑은 고딕"/>
                <a:ea typeface="맑은 고딕"/>
                <a:cs typeface="맑은 고딕"/>
              </a:rPr>
              <a:t>부정 117건에서 관찰된 사건 표지를 문보경·장성숙(2001)의 면접 범주와 나란히 놓았다. 면접 자료에서 사건 단위로 정리된 부정 경험의 표지가 익명 환경의 글에서도 적용 가능한 형태로 드러난다.</a:t>
            </a:r>
          </a:p>
        </p:txBody>
      </p:sp>
      <p:graphicFrame>
        <p:nvGraphicFramePr>
          <p:cNvPr id="63" name="Table 62"/>
          <p:cNvGraphicFramePr>
            <a:graphicFrameLocks noGrp="1"/>
          </p:cNvGraphicFramePr>
          <p:nvPr/>
        </p:nvGraphicFramePr>
        <p:xfrm>
          <a:off x="16524000" y="17208000"/>
          <a:ext cx="11880000" cy="3456000"/>
        </p:xfrm>
        <a:graphic>
          <a:graphicData uri="http://schemas.openxmlformats.org/drawingml/2006/table">
            <a:tbl>
              <a:tblPr firstRow="1" bandRow="1">
                <a:tableStyleId>{5C22544A-7EE6-4342-B048-85BDC9FD1C3A}</a:tableStyleId>
              </a:tblPr>
              <a:tblGrid>
                <a:gridCol w="1980000"/>
                <a:gridCol w="5040000"/>
                <a:gridCol w="4860000"/>
              </a:tblGrid>
              <a:tr h="691200">
                <a:tc>
                  <a:txBody>
                    <a:bodyPr wrap="square"/>
                    <a:lstStyle/>
                    <a:p>
                      <a:r>
                        <a:rPr sz="1700" b="1">
                          <a:solidFill>
                            <a:srgbClr val="FFFFFF"/>
                          </a:solidFill>
                          <a:latin typeface="맑은 고딕"/>
                          <a:ea typeface="맑은 고딕"/>
                          <a:cs typeface="맑은 고딕"/>
                        </a:rPr>
                        <a:t>측면</a:t>
                      </a:r>
                    </a:p>
                  </a:txBody>
                  <a:tcPr marL="72000" marR="72000" marT="36000" marB="36000" anchor="ctr"/>
                </a:tc>
                <a:tc>
                  <a:txBody>
                    <a:bodyPr wrap="square"/>
                    <a:lstStyle/>
                    <a:p>
                      <a:r>
                        <a:rPr sz="1700" b="1">
                          <a:solidFill>
                            <a:srgbClr val="FFFFFF"/>
                          </a:solidFill>
                          <a:latin typeface="맑은 고딕"/>
                          <a:ea typeface="맑은 고딕"/>
                          <a:cs typeface="맑은 고딕"/>
                        </a:rPr>
                        <a:t>면접 자료 (문보경·장성숙, 2001)</a:t>
                      </a:r>
                    </a:p>
                  </a:txBody>
                  <a:tcPr marL="72000" marR="72000" marT="36000" marB="36000" anchor="ctr"/>
                </a:tc>
                <a:tc>
                  <a:txBody>
                    <a:bodyPr wrap="square"/>
                    <a:lstStyle/>
                    <a:p>
                      <a:r>
                        <a:rPr sz="1700" b="1">
                          <a:solidFill>
                            <a:srgbClr val="FFFFFF"/>
                          </a:solidFill>
                          <a:latin typeface="맑은 고딕"/>
                          <a:ea typeface="맑은 고딕"/>
                          <a:cs typeface="맑은 고딕"/>
                        </a:rPr>
                        <a:t>본 SNS 자료</a:t>
                      </a:r>
                    </a:p>
                  </a:txBody>
                  <a:tcPr marL="72000" marR="72000" marT="36000" marB="36000" anchor="ctr"/>
                </a:tc>
              </a:tr>
              <a:tr h="691200">
                <a:tc>
                  <a:txBody>
                    <a:bodyPr wrap="square"/>
                    <a:lstStyle/>
                    <a:p>
                      <a:r>
                        <a:rPr sz="1700" b="0">
                          <a:solidFill>
                            <a:srgbClr val="2C2C2C"/>
                          </a:solidFill>
                          <a:latin typeface="맑은 고딕"/>
                          <a:ea typeface="맑은 고딕"/>
                          <a:cs typeface="맑은 고딕"/>
                        </a:rPr>
                        <a:t>자료원</a:t>
                      </a:r>
                    </a:p>
                  </a:txBody>
                  <a:tcPr marL="72000" marR="72000" marT="36000" marB="36000" anchor="ctr"/>
                </a:tc>
                <a:tc>
                  <a:txBody>
                    <a:bodyPr wrap="square"/>
                    <a:lstStyle/>
                    <a:p>
                      <a:r>
                        <a:rPr sz="1700" b="0">
                          <a:solidFill>
                            <a:srgbClr val="2C2C2C"/>
                          </a:solidFill>
                          <a:latin typeface="맑은 고딕"/>
                          <a:ea typeface="맑은 고딕"/>
                          <a:cs typeface="맑은 고딕"/>
                        </a:rPr>
                        <a:t>내담자 면접·개방형 질문지</a:t>
                      </a:r>
                    </a:p>
                  </a:txBody>
                  <a:tcPr marL="72000" marR="72000" marT="36000" marB="36000" anchor="ctr"/>
                </a:tc>
                <a:tc>
                  <a:txBody>
                    <a:bodyPr wrap="square"/>
                    <a:lstStyle/>
                    <a:p>
                      <a:r>
                        <a:rPr sz="1700" b="0">
                          <a:solidFill>
                            <a:srgbClr val="2C2C2C"/>
                          </a:solidFill>
                          <a:latin typeface="맑은 고딕"/>
                          <a:ea typeface="맑은 고딕"/>
                          <a:cs typeface="맑은 고딕"/>
                        </a:rPr>
                        <a:t>한국어 공개 X 경험 글</a:t>
                      </a:r>
                    </a:p>
                  </a:txBody>
                  <a:tcPr marL="72000" marR="72000" marT="36000" marB="36000" anchor="ctr"/>
                </a:tc>
              </a:tr>
              <a:tr h="691200">
                <a:tc>
                  <a:txBody>
                    <a:bodyPr wrap="square"/>
                    <a:lstStyle/>
                    <a:p>
                      <a:r>
                        <a:rPr sz="1700" b="0">
                          <a:solidFill>
                            <a:srgbClr val="2C2C2C"/>
                          </a:solidFill>
                          <a:latin typeface="맑은 고딕"/>
                          <a:ea typeface="맑은 고딕"/>
                          <a:cs typeface="맑은 고딕"/>
                        </a:rPr>
                        <a:t>분석 단위</a:t>
                      </a:r>
                    </a:p>
                  </a:txBody>
                  <a:tcPr marL="72000" marR="72000" marT="36000" marB="36000" anchor="ctr"/>
                </a:tc>
                <a:tc>
                  <a:txBody>
                    <a:bodyPr wrap="square"/>
                    <a:lstStyle/>
                    <a:p>
                      <a:r>
                        <a:rPr sz="1700" b="0">
                          <a:solidFill>
                            <a:srgbClr val="2C2C2C"/>
                          </a:solidFill>
                          <a:latin typeface="맑은 고딕"/>
                          <a:ea typeface="맑은 고딕"/>
                          <a:cs typeface="맑은 고딕"/>
                        </a:rPr>
                        <a:t>사례 단위 사건 회고</a:t>
                      </a:r>
                    </a:p>
                  </a:txBody>
                  <a:tcPr marL="72000" marR="72000" marT="36000" marB="36000" anchor="ctr"/>
                </a:tc>
                <a:tc>
                  <a:txBody>
                    <a:bodyPr wrap="square"/>
                    <a:lstStyle/>
                    <a:p>
                      <a:r>
                        <a:rPr sz="1700" b="0">
                          <a:solidFill>
                            <a:srgbClr val="2C2C2C"/>
                          </a:solidFill>
                          <a:latin typeface="맑은 고딕"/>
                          <a:ea typeface="맑은 고딕"/>
                          <a:cs typeface="맑은 고딕"/>
                        </a:rPr>
                        <a:t>게시물 단위 경험 글</a:t>
                      </a:r>
                    </a:p>
                  </a:txBody>
                  <a:tcPr marL="72000" marR="72000" marT="36000" marB="36000" anchor="ctr"/>
                </a:tc>
              </a:tr>
              <a:tr h="691200">
                <a:tc>
                  <a:txBody>
                    <a:bodyPr wrap="square"/>
                    <a:lstStyle/>
                    <a:p>
                      <a:r>
                        <a:rPr sz="1700" b="0">
                          <a:solidFill>
                            <a:srgbClr val="2C2C2C"/>
                          </a:solidFill>
                          <a:latin typeface="맑은 고딕"/>
                          <a:ea typeface="맑은 고딕"/>
                          <a:cs typeface="맑은 고딕"/>
                        </a:rPr>
                        <a:t>부정 표지</a:t>
                      </a:r>
                    </a:p>
                  </a:txBody>
                  <a:tcPr marL="72000" marR="72000" marT="36000" marB="36000" anchor="ctr"/>
                </a:tc>
                <a:tc>
                  <a:txBody>
                    <a:bodyPr wrap="square"/>
                    <a:lstStyle/>
                    <a:p>
                      <a:r>
                        <a:rPr sz="1700" b="0">
                          <a:solidFill>
                            <a:srgbClr val="2C2C2C"/>
                          </a:solidFill>
                          <a:latin typeface="맑은 고딕"/>
                          <a:ea typeface="맑은 고딕"/>
                          <a:cs typeface="맑은 고딕"/>
                        </a:rPr>
                        <a:t>원치 않는 반응, 해결책 부재, 상담자의 요구, 상처 경험</a:t>
                      </a:r>
                    </a:p>
                  </a:txBody>
                  <a:tcPr marL="72000" marR="72000" marT="36000" marB="36000" anchor="ctr"/>
                </a:tc>
                <a:tc>
                  <a:txBody>
                    <a:bodyPr wrap="square"/>
                    <a:lstStyle/>
                    <a:p>
                      <a:r>
                        <a:rPr sz="1700" b="0">
                          <a:solidFill>
                            <a:srgbClr val="2C2C2C"/>
                          </a:solidFill>
                          <a:latin typeface="맑은 고딕"/>
                          <a:ea typeface="맑은 고딕"/>
                          <a:cs typeface="맑은 고딕"/>
                        </a:rPr>
                        <a:t>강제성 0.350, 무시당함 0.470, 상처 0.231 (부정 117건 기준)</a:t>
                      </a:r>
                    </a:p>
                  </a:txBody>
                  <a:tcPr marL="72000" marR="72000" marT="36000" marB="36000" anchor="ctr"/>
                </a:tc>
              </a:tr>
              <a:tr h="691200">
                <a:tc>
                  <a:txBody>
                    <a:bodyPr wrap="square"/>
                    <a:lstStyle/>
                    <a:p>
                      <a:r>
                        <a:rPr sz="1700" b="0">
                          <a:solidFill>
                            <a:srgbClr val="2C2C2C"/>
                          </a:solidFill>
                          <a:latin typeface="맑은 고딕"/>
                          <a:ea typeface="맑은 고딕"/>
                          <a:cs typeface="맑은 고딕"/>
                        </a:rPr>
                        <a:t>분석 깊이</a:t>
                      </a:r>
                    </a:p>
                  </a:txBody>
                  <a:tcPr marL="72000" marR="72000" marT="36000" marB="36000" anchor="ctr"/>
                </a:tc>
                <a:tc>
                  <a:txBody>
                    <a:bodyPr wrap="square"/>
                    <a:lstStyle/>
                    <a:p>
                      <a:r>
                        <a:rPr sz="1700" b="0">
                          <a:solidFill>
                            <a:srgbClr val="2C2C2C"/>
                          </a:solidFill>
                          <a:latin typeface="맑은 고딕"/>
                          <a:ea typeface="맑은 고딕"/>
                          <a:cs typeface="맑은 고딕"/>
                        </a:rPr>
                        <a:t>사례별 깊이 있는 합의 부호화</a:t>
                      </a:r>
                    </a:p>
                  </a:txBody>
                  <a:tcPr marL="72000" marR="72000" marT="36000" marB="36000" anchor="ctr"/>
                </a:tc>
                <a:tc>
                  <a:txBody>
                    <a:bodyPr wrap="square"/>
                    <a:lstStyle/>
                    <a:p>
                      <a:r>
                        <a:rPr sz="1700" b="0">
                          <a:solidFill>
                            <a:srgbClr val="2C2C2C"/>
                          </a:solidFill>
                          <a:latin typeface="맑은 고딕"/>
                          <a:ea typeface="맑은 고딕"/>
                          <a:cs typeface="맑은 고딕"/>
                        </a:rPr>
                        <a:t>분포 수준의 탐색적 부호화</a:t>
                      </a:r>
                    </a:p>
                  </a:txBody>
                  <a:tcPr marL="72000" marR="72000" marT="36000" marB="36000" anchor="ctr"/>
                </a:tc>
              </a:tr>
            </a:tbl>
          </a:graphicData>
        </a:graphic>
      </p:graphicFrame>
      <p:sp>
        <p:nvSpPr>
          <p:cNvPr id="64" name="TextBox 63"/>
          <p:cNvSpPr txBox="1"/>
          <p:nvPr/>
        </p:nvSpPr>
        <p:spPr>
          <a:xfrm>
            <a:off x="16524000" y="20952000"/>
            <a:ext cx="11880000" cy="2880000"/>
          </a:xfrm>
          <a:prstGeom prst="rect">
            <a:avLst/>
          </a:prstGeom>
          <a:noFill/>
        </p:spPr>
        <p:txBody>
          <a:bodyPr wrap="square">
            <a:spAutoFit/>
          </a:bodyPr>
          <a:lstStyle/>
          <a:p>
            <a:pPr>
              <a:spcAft>
                <a:spcPts val="600"/>
              </a:spcAft>
            </a:pPr>
            <a:r>
              <a:rPr sz="2400" b="1">
                <a:solidFill>
                  <a:srgbClr val="2C2C2C"/>
                </a:solidFill>
                <a:latin typeface="맑은 고딕"/>
                <a:ea typeface="맑은 고딕"/>
                <a:cs typeface="맑은 고딕"/>
              </a:rPr>
              <a:t>과정 코드의 극성별 대비 — </a:t>
            </a:r>
            <a:r>
              <a:rPr sz="2400" b="0">
                <a:solidFill>
                  <a:srgbClr val="2C2C2C"/>
                </a:solidFill>
                <a:latin typeface="맑은 고딕"/>
                <a:ea typeface="맑은 고딕"/>
                <a:cs typeface="맑은 고딕"/>
              </a:rPr>
              <a:t>작업동맹 세 축은 극성에 따라 갈렸다. 부정 117건에서는 유대 63.2%·과제 69.2%·목표 59.0%가 부정 정렬, 긍정 126건에서는 유대 80.2%·과제 81.7%·목표 84.9%가 긍정 정렬이었다. 여섯 과정 코드의 부트스트랩 대비는 신뢰구간이 모두 0을 가로지르지 않았다(예: 무시당함 -0.431 [-0.506, -0.350], 안도 +0.434 [0.344, 0.517]).</a:t>
            </a:r>
          </a:p>
        </p:txBody>
      </p:sp>
      <p:pic>
        <p:nvPicPr>
          <p:cNvPr id="65" name="Picture 64" descr="process_contrast.png"/>
          <p:cNvPicPr>
            <a:picLocks noChangeAspect="1"/>
          </p:cNvPicPr>
          <p:nvPr/>
        </p:nvPicPr>
        <p:blipFill>
          <a:blip r:embed="rId8"/>
          <a:stretch>
            <a:fillRect/>
          </a:stretch>
        </p:blipFill>
        <p:spPr>
          <a:xfrm>
            <a:off x="16920000" y="24192000"/>
            <a:ext cx="10800000" cy="5597468"/>
          </a:xfrm>
          <a:prstGeom prst="rect">
            <a:avLst/>
          </a:prstGeom>
        </p:spPr>
      </p:pic>
    </p:spTree>
    <p:extLst>
      <p:ext uri="{BB962C8B-B14F-4D97-AF65-F5344CB8AC3E}">
        <p14:creationId xmlns:p14="http://schemas.microsoft.com/office/powerpoint/2010/main" val="3678362416"/>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319</TotalTime>
  <Words>456</Words>
  <Application>Microsoft Office PowerPoint</Application>
  <PresentationFormat>사용자 지정</PresentationFormat>
  <Paragraphs>46</Paragraphs>
  <Slides>2</Slides>
  <Notes>0</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2</vt:i4>
      </vt:variant>
    </vt:vector>
  </HeadingPairs>
  <TitlesOfParts>
    <vt:vector size="7" baseType="lpstr">
      <vt:lpstr>맑은 고딕</vt:lpstr>
      <vt:lpstr>Arial</vt:lpstr>
      <vt:lpstr>Calibri</vt:lpstr>
      <vt:lpstr>Calibri Light</vt:lpstr>
      <vt:lpstr>Office 테마</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user</dc:creator>
  <cp:lastModifiedBy>진성애</cp:lastModifiedBy>
  <cp:revision>15</cp:revision>
  <dcterms:created xsi:type="dcterms:W3CDTF">2026-05-04T08:16:34Z</dcterms:created>
  <dcterms:modified xsi:type="dcterms:W3CDTF">2026-06-01T05:53:37Z</dcterms:modified>
</cp:coreProperties>
</file>