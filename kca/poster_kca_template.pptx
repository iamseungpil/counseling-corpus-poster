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426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799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900613" y="6274800"/>
            <a:ext cx="4055303"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957743" y="16272000"/>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363126" y="19800000"/>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938700" y="19602000"/>
            <a:ext cx="7546606"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570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494353" y="27972000"/>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2002178" y="27774000"/>
            <a:ext cx="8638431"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570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280083" y="31795200"/>
            <a:ext cx="6416693" cy="1234800"/>
          </a:xfrm>
          <a:prstGeom prst="rect">
            <a:avLst/>
          </a:prstGeom>
        </p:spPr>
        <p:txBody>
          <a:bodyPr lIns="0" tIns="0" rIns="0" bIns="0" anchor="ctr" wrap="none"/>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2088000" y="9000000"/>
            <a:ext cx="12420000" cy="7020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2196000" y="17208000"/>
            <a:ext cx="12420000" cy="234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목적 1.  </a:t>
            </a:r>
            <a:r>
              <a:rPr sz="24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400" b="1">
                <a:solidFill>
                  <a:srgbClr val="2C2C2C"/>
                </a:solidFill>
                <a:latin typeface="맑은 고딕"/>
                <a:ea typeface="맑은 고딕"/>
                <a:cs typeface="맑은 고딕"/>
              </a:rPr>
              <a:t>목적 2.  </a:t>
            </a:r>
            <a:r>
              <a:rPr sz="24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164000" y="8064000"/>
            <a:ext cx="12168000" cy="2376000"/>
          </a:xfrm>
          <a:prstGeom prst="rect">
            <a:avLst/>
          </a:prstGeom>
        </p:spPr>
        <p:txBody>
          <a:bodyPr lIns="0" tIns="0" rIns="0" bIns="0" anchor="t" wrap="square">
            <a:noAutofit/>
          </a:bodyPr>
          <a:lstStyle/>
          <a:p>
            <a:pPr lvl="0" algn="l">
              <a:lnSpc>
                <a:spcPct val="132800"/>
              </a:lnSpc>
              <a:spcAft>
                <a:spcPts val="600"/>
              </a:spcAft>
              <a:defRPr/>
            </a:pPr>
            <a:r>
              <a:rPr sz="2300" b="1">
                <a:solidFill>
                  <a:srgbClr val="2C2C2C"/>
                </a:solidFill>
                <a:latin typeface="맑은 고딕"/>
                <a:ea typeface="맑은 고딕"/>
                <a:cs typeface="맑은 고딕"/>
              </a:rPr>
              <a:t>기초 분포 — </a:t>
            </a:r>
            <a:r>
              <a:rPr sz="23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나뉘었다.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980000" y="21384000"/>
            <a:ext cx="12420000" cy="6300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4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980000" y="29556000"/>
            <a:ext cx="12420000" cy="1620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자료는 X 공개 한국어 글에서 모았다(사용자명·외부 식별자 자동 비식별). 질의는 정밀·확장·맥락 점검·누적 확장의 네 층으로 설계했고, 회수 게시물은 2010년 9월~2026년 4월(약 15년 7개월)에 걸쳐 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164000" y="33696000"/>
            <a:ext cx="12168000" cy="720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함의:  </a:t>
            </a:r>
            <a:r>
              <a:rPr sz="24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서로 구분되었으며,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400" b="1">
                <a:solidFill>
                  <a:srgbClr val="2C2C2C"/>
                </a:solidFill>
                <a:latin typeface="맑은 고딕"/>
                <a:ea typeface="맑은 고딕"/>
                <a:cs typeface="맑은 고딕"/>
              </a:rPr>
              <a:t>한계:  </a:t>
            </a:r>
            <a:r>
              <a:rPr sz="24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400" b="1">
                <a:solidFill>
                  <a:srgbClr val="2C2C2C"/>
                </a:solidFill>
                <a:latin typeface="맑은 고딕"/>
                <a:ea typeface="맑은 고딕"/>
                <a:cs typeface="맑은 고딕"/>
              </a:rPr>
              <a:t>전망:  </a:t>
            </a:r>
            <a:r>
              <a:rPr sz="24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pipeline.png"/>
          <p:cNvPicPr>
            <a:picLocks noChangeAspect="1"/>
          </p:cNvPicPr>
          <p:nvPr/>
        </p:nvPicPr>
        <p:blipFill>
          <a:blip r:embed="rId5"/>
          <a:stretch>
            <a:fillRect/>
          </a:stretch>
        </p:blipFill>
        <p:spPr>
          <a:xfrm>
            <a:off x="2016000" y="31248000"/>
            <a:ext cx="12168000" cy="4306963"/>
          </a:xfrm>
          <a:prstGeom prst="rect">
            <a:avLst/>
          </a:prstGeom>
        </p:spPr>
      </p:pic>
      <p:sp>
        <p:nvSpPr>
          <p:cNvPr id="58" name="TextBox 57"/>
          <p:cNvSpPr txBox="1"/>
          <p:nvPr/>
        </p:nvSpPr>
        <p:spPr>
          <a:xfrm>
            <a:off x="2016000" y="35640000"/>
            <a:ext cx="12168000" cy="504000"/>
          </a:xfrm>
          <a:prstGeom prst="rect">
            <a:avLst/>
          </a:prstGeom>
          <a:noFill/>
        </p:spPr>
        <p:txBody>
          <a:bodyPr wrap="square">
            <a:spAutoFit/>
          </a:bodyPr>
          <a:lstStyle/>
          <a:p>
            <a:r>
              <a:rPr sz="1400" i="1">
                <a:solidFill>
                  <a:srgbClr val="2C2C2C"/>
                </a:solidFill>
                <a:latin typeface="맑은 고딕"/>
              </a:rPr>
              <a:t>그림 1. LLM 보조 4층 정제 절차. 규칙 분류로 분량을 줄이고 경계 사례에만 LLM 판정(③)을 적용한다.</a:t>
            </a:r>
          </a:p>
        </p:txBody>
      </p:sp>
      <p:pic>
        <p:nvPicPr>
          <p:cNvPr id="59" name="Picture 58" descr="corpus_funnel.png"/>
          <p:cNvPicPr>
            <a:picLocks noChangeAspect="1"/>
          </p:cNvPicPr>
          <p:nvPr/>
        </p:nvPicPr>
        <p:blipFill>
          <a:blip r:embed="rId6"/>
          <a:stretch>
            <a:fillRect/>
          </a:stretch>
        </p:blipFill>
        <p:spPr>
          <a:xfrm>
            <a:off x="4788000" y="36144000"/>
            <a:ext cx="6192000" cy="3458747"/>
          </a:xfrm>
          <a:prstGeom prst="rect">
            <a:avLst/>
          </a:prstGeom>
        </p:spPr>
      </p:pic>
      <p:sp>
        <p:nvSpPr>
          <p:cNvPr id="60" name="TextBox 59"/>
          <p:cNvSpPr txBox="1"/>
          <p:nvPr/>
        </p:nvSpPr>
        <p:spPr>
          <a:xfrm>
            <a:off x="4788000" y="39672000"/>
            <a:ext cx="6192000" cy="504000"/>
          </a:xfrm>
          <a:prstGeom prst="rect">
            <a:avLst/>
          </a:prstGeom>
          <a:noFill/>
        </p:spPr>
        <p:txBody>
          <a:bodyPr wrap="square">
            <a:spAutoFit/>
          </a:bodyPr>
          <a:lstStyle/>
          <a:p>
            <a:r>
              <a:rPr sz="1400" i="1">
                <a:solidFill>
                  <a:srgbClr val="2C2C2C"/>
                </a:solidFill>
                <a:latin typeface="맑은 고딕"/>
              </a:rPr>
              <a:t>그림 2. 원자료 3,652건 → 본문 코퍼스 361건(9.9%). 관련성 유지본 479·엄격 확정본 451건 경유.</a:t>
            </a:r>
          </a:p>
        </p:txBody>
      </p:sp>
      <p:pic>
        <p:nvPicPr>
          <p:cNvPr id="61" name="Picture 60" descr="corpus_overview.png"/>
          <p:cNvPicPr>
            <a:picLocks noChangeAspect="1"/>
          </p:cNvPicPr>
          <p:nvPr/>
        </p:nvPicPr>
        <p:blipFill>
          <a:blip r:embed="rId7"/>
          <a:stretch>
            <a:fillRect/>
          </a:stretch>
        </p:blipFill>
        <p:spPr>
          <a:xfrm>
            <a:off x="16488000" y="10440000"/>
            <a:ext cx="11448000" cy="4273920"/>
          </a:xfrm>
          <a:prstGeom prst="rect">
            <a:avLst/>
          </a:prstGeom>
        </p:spPr>
      </p:pic>
      <p:sp>
        <p:nvSpPr>
          <p:cNvPr id="62" name="TextBox 61"/>
          <p:cNvSpPr txBox="1"/>
          <p:nvPr/>
        </p:nvSpPr>
        <p:spPr>
          <a:xfrm>
            <a:off x="16164000" y="15120000"/>
            <a:ext cx="12168000" cy="1872000"/>
          </a:xfrm>
          <a:prstGeom prst="rect">
            <a:avLst/>
          </a:prstGeom>
          <a:noFill/>
        </p:spPr>
        <p:txBody>
          <a:bodyPr wrap="square">
            <a:spAutoFit/>
          </a:bodyPr>
          <a:lstStyle/>
          <a:p>
            <a:pPr>
              <a:spcAft>
                <a:spcPts val="600"/>
              </a:spcAft>
            </a:pPr>
            <a:r>
              <a:rPr sz="2300" b="1">
                <a:solidFill>
                  <a:srgbClr val="2C2C2C"/>
                </a:solidFill>
                <a:latin typeface="맑은 고딕"/>
                <a:ea typeface="맑은 고딕"/>
                <a:cs typeface="맑은 고딕"/>
              </a:rPr>
              <a:t>면접 기반 선행 연구와의 비교 — </a:t>
            </a:r>
            <a:r>
              <a:rPr sz="23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3" name="Table 62"/>
          <p:cNvGraphicFramePr>
            <a:graphicFrameLocks noGrp="1"/>
          </p:cNvGraphicFramePr>
          <p:nvPr/>
        </p:nvGraphicFramePr>
        <p:xfrm>
          <a:off x="16164000" y="17208000"/>
          <a:ext cx="12168000" cy="3456000"/>
        </p:xfrm>
        <a:graphic>
          <a:graphicData uri="http://schemas.openxmlformats.org/drawingml/2006/table">
            <a:tbl>
              <a:tblPr>
                <a:tableStyleId>{2D5ABB26-0587-4C30-8999-92F81FD0307C}</a:tableStyleId>
              </a:tblPr>
              <a:tblGrid>
                <a:gridCol w="2088000"/>
                <a:gridCol w="5112000"/>
                <a:gridCol w="4968000"/>
              </a:tblGrid>
              <a:tr h="691200">
                <a:tc>
                  <a:txBody>
                    <a:bodyPr wrap="square"/>
                    <a:lstStyle/>
                    <a:p>
                      <a:r>
                        <a:rPr sz="1700" b="1">
                          <a:solidFill>
                            <a:srgbClr val="FFFFFF"/>
                          </a:solidFill>
                          <a:latin typeface="맑은 고딕"/>
                          <a:ea typeface="맑은 고딕"/>
                          <a:cs typeface="맑은 고딕"/>
                        </a:rPr>
                        <a:t>측면</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면접 자료 (문보경·장성숙, 2001)</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본 SNS 자료</a:t>
                      </a:r>
                    </a:p>
                  </a:txBody>
                  <a:tcPr marL="90000" marR="90000" marT="54000" marB="54000" anchor="ctr">
                    <a:solidFill>
                      <a:srgbClr val="14285A"/>
                    </a:solidFill>
                  </a:tcPr>
                </a:tc>
              </a:tr>
              <a:tr h="691200">
                <a:tc>
                  <a:txBody>
                    <a:bodyPr wrap="square"/>
                    <a:lstStyle/>
                    <a:p>
                      <a:r>
                        <a:rPr sz="1700" b="1">
                          <a:solidFill>
                            <a:srgbClr val="2C2C2C"/>
                          </a:solidFill>
                          <a:latin typeface="맑은 고딕"/>
                          <a:ea typeface="맑은 고딕"/>
                          <a:cs typeface="맑은 고딕"/>
                        </a:rPr>
                        <a:t>자료원</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내담자 면접·개방형 질문지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한국어 공개 X 경험 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단위</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 단위 사건 회고</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게시물 단위 경험 글</a:t>
                      </a:r>
                    </a:p>
                  </a:txBody>
                  <a:tcPr marL="90000" marR="90000" marT="54000" marB="54000" anchor="ctr">
                    <a:solidFill>
                      <a:srgbClr val="FFFFFF"/>
                    </a:solidFill>
                  </a:tcPr>
                </a:tc>
              </a:tr>
              <a:tr h="691200">
                <a:tc>
                  <a:txBody>
                    <a:bodyPr wrap="square"/>
                    <a:lstStyle/>
                    <a:p>
                      <a:r>
                        <a:rPr sz="1700" b="1">
                          <a:solidFill>
                            <a:srgbClr val="2C2C2C"/>
                          </a:solidFill>
                          <a:latin typeface="맑은 고딕"/>
                          <a:ea typeface="맑은 고딕"/>
                          <a:cs typeface="맑은 고딕"/>
                        </a:rPr>
                        <a:t>부정 표지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깊이</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사례별 깊이 있는 합의 부호화</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분포 수준의 탐색적 부호화</a:t>
                      </a:r>
                    </a:p>
                  </a:txBody>
                  <a:tcPr marL="90000" marR="90000" marT="54000" marB="54000" anchor="ctr">
                    <a:solidFill>
                      <a:srgbClr val="FFFFFF"/>
                    </a:solidFill>
                  </a:tcPr>
                </a:tc>
              </a:tr>
            </a:tbl>
          </a:graphicData>
        </a:graphic>
      </p:graphicFrame>
      <p:sp>
        <p:nvSpPr>
          <p:cNvPr id="64" name="TextBox 63"/>
          <p:cNvSpPr txBox="1"/>
          <p:nvPr/>
        </p:nvSpPr>
        <p:spPr>
          <a:xfrm>
            <a:off x="16164000" y="20952000"/>
            <a:ext cx="12168000" cy="2880000"/>
          </a:xfrm>
          <a:prstGeom prst="rect">
            <a:avLst/>
          </a:prstGeom>
          <a:noFill/>
        </p:spPr>
        <p:txBody>
          <a:bodyPr wrap="square">
            <a:spAutoFit/>
          </a:bodyPr>
          <a:lstStyle/>
          <a:p>
            <a:pPr>
              <a:spcAft>
                <a:spcPts val="600"/>
              </a:spcAft>
            </a:pPr>
            <a:r>
              <a:rPr sz="2300" b="1">
                <a:solidFill>
                  <a:srgbClr val="2C2C2C"/>
                </a:solidFill>
                <a:latin typeface="맑은 고딕"/>
                <a:ea typeface="맑은 고딕"/>
                <a:cs typeface="맑은 고딕"/>
              </a:rPr>
              <a:t>과정 코드의 극성별 대비 — </a:t>
            </a:r>
            <a:r>
              <a:rPr sz="23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5" name="Picture 64" descr="process_contrast.png"/>
          <p:cNvPicPr>
            <a:picLocks noChangeAspect="1"/>
          </p:cNvPicPr>
          <p:nvPr/>
        </p:nvPicPr>
        <p:blipFill>
          <a:blip r:embed="rId8"/>
          <a:stretch>
            <a:fillRect/>
          </a:stretch>
        </p:blipFill>
        <p:spPr>
          <a:xfrm>
            <a:off x="16740000" y="24192000"/>
            <a:ext cx="10800000" cy="5597468"/>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